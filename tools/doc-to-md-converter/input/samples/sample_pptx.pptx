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308" r:id="rId2"/>
    <p:sldId id="359" r:id="rId3"/>
    <p:sldId id="378" r:id="rId4"/>
    <p:sldId id="506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18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003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"/>
          <p:cNvSpPr>
            <a:spLocks noChangeArrowheads="1"/>
          </p:cNvSpPr>
          <p:nvPr/>
        </p:nvSpPr>
        <p:spPr bwMode="auto">
          <a:xfrm>
            <a:off x="254977" y="5848351"/>
            <a:ext cx="8636977" cy="33703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txBody>
          <a:bodyPr wrap="none" anchor="ctr"/>
          <a:lstStyle>
            <a:lvl1pPr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defRPr/>
            </a:pPr>
            <a:endParaRPr lang="ko-KR" altLang="en-US" sz="1108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5123" name="Text Box 12"/>
          <p:cNvSpPr txBox="1">
            <a:spLocks noChangeArrowheads="1"/>
          </p:cNvSpPr>
          <p:nvPr/>
        </p:nvSpPr>
        <p:spPr bwMode="auto">
          <a:xfrm>
            <a:off x="1647092" y="902677"/>
            <a:ext cx="5767754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lIns="84992" tIns="42497" rIns="84992" bIns="42497"/>
          <a:lstStyle>
            <a:lvl1pPr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defRPr/>
            </a:pPr>
            <a:r>
              <a:rPr kumimoji="0" lang="en-US" altLang="ko-KR" sz="2954" dirty="0">
                <a:latin typeface="돋움체" panose="020B0609000101010101" pitchFamily="49" charset="-127"/>
                <a:ea typeface="돋움체" panose="020B0609000101010101" pitchFamily="49" charset="-127"/>
              </a:rPr>
              <a:t>CNVC User Manual</a:t>
            </a:r>
            <a:endParaRPr kumimoji="0" lang="ko-KR" altLang="en-US" sz="2954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5124" name="Line 13"/>
          <p:cNvSpPr>
            <a:spLocks noChangeShapeType="1"/>
          </p:cNvSpPr>
          <p:nvPr/>
        </p:nvSpPr>
        <p:spPr bwMode="auto">
          <a:xfrm>
            <a:off x="1651490" y="1544515"/>
            <a:ext cx="5786803" cy="0"/>
          </a:xfrm>
          <a:prstGeom prst="line">
            <a:avLst/>
          </a:prstGeom>
          <a:noFill/>
          <a:ln w="57150">
            <a:solidFill>
              <a:srgbClr val="969696"/>
            </a:solidFill>
            <a:round/>
            <a:headEnd/>
            <a:tailEnd/>
          </a:ln>
        </p:spPr>
        <p:txBody>
          <a:bodyPr lIns="83077" tIns="43200" rIns="83077" bIns="43200" anchor="ctr"/>
          <a:lstStyle/>
          <a:p>
            <a:pPr>
              <a:defRPr/>
            </a:pPr>
            <a:endParaRPr lang="ko-KR" altLang="en-US" sz="1662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graphicFrame>
        <p:nvGraphicFramePr>
          <p:cNvPr id="17" name="Group 14"/>
          <p:cNvGraphicFramePr>
            <a:graphicFrameLocks noGrp="1"/>
          </p:cNvGraphicFramePr>
          <p:nvPr>
            <p:extLst/>
          </p:nvPr>
        </p:nvGraphicFramePr>
        <p:xfrm>
          <a:off x="2209800" y="2192215"/>
          <a:ext cx="4712676" cy="155477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3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69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Project Name</a:t>
                      </a: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CNVC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31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System - Features</a:t>
                      </a: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07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Methodology</a:t>
                      </a: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Stage</a:t>
                      </a: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6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Step</a:t>
                      </a: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 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07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Document Number</a:t>
                      </a: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147" name="Line 36"/>
          <p:cNvSpPr>
            <a:spLocks noChangeShapeType="1"/>
          </p:cNvSpPr>
          <p:nvPr/>
        </p:nvSpPr>
        <p:spPr bwMode="auto">
          <a:xfrm>
            <a:off x="1658816" y="879231"/>
            <a:ext cx="5786804" cy="0"/>
          </a:xfrm>
          <a:prstGeom prst="line">
            <a:avLst/>
          </a:prstGeom>
          <a:noFill/>
          <a:ln w="57150">
            <a:solidFill>
              <a:srgbClr val="969696"/>
            </a:solidFill>
            <a:round/>
            <a:headEnd/>
            <a:tailEnd/>
          </a:ln>
        </p:spPr>
        <p:txBody>
          <a:bodyPr lIns="83077" tIns="43200" rIns="83077" bIns="43200" anchor="ctr"/>
          <a:lstStyle/>
          <a:p>
            <a:pPr>
              <a:defRPr/>
            </a:pPr>
            <a:endParaRPr lang="ko-KR" altLang="en-US" sz="1662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graphicFrame>
        <p:nvGraphicFramePr>
          <p:cNvPr id="19" name="Group 37"/>
          <p:cNvGraphicFramePr>
            <a:graphicFrameLocks noGrp="1"/>
          </p:cNvGraphicFramePr>
          <p:nvPr>
            <p:extLst/>
          </p:nvPr>
        </p:nvGraphicFramePr>
        <p:xfrm>
          <a:off x="2221523" y="4337539"/>
          <a:ext cx="4712676" cy="930520"/>
        </p:xfrm>
        <a:graphic>
          <a:graphicData uri="http://schemas.openxmlformats.org/drawingml/2006/table">
            <a:tbl>
              <a:tblPr/>
              <a:tblGrid>
                <a:gridCol w="405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5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8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71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Win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PL</a:t>
                      </a: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QA</a:t>
                      </a: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PM</a:t>
                      </a: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Customer</a:t>
                      </a: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7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3077" marR="83077" marT="43200" marB="43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3077" marR="83077" marT="43200" marB="43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3077" marR="83077" marT="43200" marB="43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3077" marR="83077" marT="43200" marB="43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3799743" y="1101458"/>
            <a:ext cx="1595803" cy="291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ko-KR" altLang="en-US" sz="1292" b="1">
                <a:latin typeface="돋움체" panose="020B0609000101010101" pitchFamily="49" charset="-127"/>
                <a:ea typeface="돋움체" panose="020B0609000101010101" pitchFamily="49" charset="-127"/>
              </a:rPr>
              <a:t>Revision History</a:t>
            </a:r>
            <a:endParaRPr lang="ko-KR" altLang="en-US" sz="1292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graphicFrame>
        <p:nvGraphicFramePr>
          <p:cNvPr id="119811" name="Group 3"/>
          <p:cNvGraphicFramePr>
            <a:graphicFrameLocks noGrp="1"/>
          </p:cNvGraphicFramePr>
          <p:nvPr>
            <p:extLst/>
          </p:nvPr>
        </p:nvGraphicFramePr>
        <p:xfrm>
          <a:off x="691662" y="1493227"/>
          <a:ext cx="7732836" cy="3636749"/>
        </p:xfrm>
        <a:graphic>
          <a:graphicData uri="http://schemas.openxmlformats.org/drawingml/2006/table">
            <a:tbl>
              <a:tblPr/>
              <a:tblGrid>
                <a:gridCol w="433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44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02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9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508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Version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Revision Date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Amendments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Author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Approver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Part</a:t>
                      </a: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Page</a:t>
                      </a: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  <a:cs typeface="Times New Roman" pitchFamily="18" charset="0"/>
                        </a:rPr>
                        <a:t>Type: Explanation (Before-&gt;After)</a:t>
                      </a: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1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1.0</a:t>
                      </a: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2023.09.08</a:t>
                      </a: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 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Revision</a:t>
                      </a: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Lee Seung-wook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2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24/3/27</a:t>
                      </a: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Add "Control Belt Move Permit" parameter</a:t>
                      </a: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Lee Seung-wook</a:t>
                      </a: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24/7/3</a:t>
                      </a: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Add instructions for setting and applying parameters</a:t>
                      </a: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Park Si-hyung</a:t>
                      </a: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24/7/30</a:t>
                      </a: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Adding Parameter Settings and Modifying Modeling Methods</a:t>
                      </a: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Park Si-hyung</a:t>
                      </a: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24/9/13</a:t>
                      </a: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Add Parameter Settings</a:t>
                      </a: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Jeong Min-seok</a:t>
                      </a: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9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9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9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84406" marR="84406" marT="42195" marB="421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710713" y="1107831"/>
            <a:ext cx="7669823" cy="4658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latinLnBrk="1">
              <a:spcBef>
                <a:spcPct val="20000"/>
              </a:spcBef>
            </a:pPr>
            <a:r>
              <a:rPr lang="ko-KR" altLang="en-US" sz="1477" b="1" dirty="0">
                <a:latin typeface="돋움체" panose="020B0609000101010101" pitchFamily="49" charset="-127"/>
                <a:ea typeface="돋움체" panose="020B0609000101010101" pitchFamily="49" charset="-127"/>
              </a:rPr>
              <a:t>List</a:t>
            </a:r>
          </a:p>
          <a:p>
            <a:pPr marL="0" indent="0" latinLnBrk="1">
              <a:spcBef>
                <a:spcPct val="20000"/>
              </a:spcBef>
            </a:pPr>
            <a:endParaRPr lang="ko-KR" altLang="en-US" sz="1477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marL="0" indent="0" latinLnBrk="1">
              <a:spcBef>
                <a:spcPct val="20000"/>
              </a:spcBef>
            </a:pPr>
            <a:r>
              <a:rPr lang="en-US" altLang="ko-KR" sz="1108" b="1" dirty="0">
                <a:latin typeface="돋움체" panose="020B0609000101010101" pitchFamily="49" charset="-127"/>
                <a:ea typeface="돋움체" panose="020B0609000101010101" pitchFamily="49" charset="-127"/>
              </a:rPr>
              <a:t>1. How to Install the CNVC Essential Program ...........................................................  4</a:t>
            </a:r>
          </a:p>
          <a:p>
            <a:pPr marL="0" indent="0" latinLnBrk="1">
              <a:spcBef>
                <a:spcPct val="20000"/>
              </a:spcBef>
            </a:pPr>
            <a:r>
              <a:rPr lang="en-US" altLang="ko-KR" sz="1108" b="1" dirty="0">
                <a:latin typeface="돋움체" panose="020B0609000101010101" pitchFamily="49" charset="-127"/>
                <a:ea typeface="돋움체" panose="020B0609000101010101" pitchFamily="49" charset="-127"/>
              </a:rPr>
              <a:t>2. How to Run the CNVC Program and Apply Patches .........................................................  6</a:t>
            </a:r>
          </a:p>
          <a:p>
            <a:pPr marL="0" indent="0" latinLnBrk="1">
              <a:spcBef>
                <a:spcPct val="20000"/>
              </a:spcBef>
            </a:pPr>
            <a:r>
              <a:rPr lang="en-US" altLang="ko-KR" sz="1108" b="1" dirty="0">
                <a:latin typeface="돋움체" panose="020B0609000101010101" pitchFamily="49" charset="-127"/>
                <a:ea typeface="돋움체" panose="020B0609000101010101" pitchFamily="49" charset="-127"/>
              </a:rPr>
              <a:t>3. Description of CNVC Features and Units  ............................................................... 12</a:t>
            </a:r>
          </a:p>
          <a:p>
            <a:pPr marL="0" indent="0" latinLnBrk="1">
              <a:spcBef>
                <a:spcPct val="20000"/>
              </a:spcBef>
            </a:pPr>
            <a:r>
              <a:rPr lang="en-US" altLang="ko-KR" sz="1108" b="1" dirty="0">
                <a:latin typeface="돋움체" panose="020B0609000101010101" pitchFamily="49" charset="-127"/>
                <a:ea typeface="돋움체" panose="020B0609000101010101" pitchFamily="49" charset="-127"/>
              </a:rPr>
              <a:t>4. Troubleshooting Procedures  .................................................................... 34</a:t>
            </a:r>
          </a:p>
          <a:p>
            <a:pPr marL="0" indent="0" latinLnBrk="1">
              <a:spcBef>
                <a:spcPct val="20000"/>
              </a:spcBef>
            </a:pPr>
            <a:r>
              <a:rPr lang="en-US" altLang="ko-KR" sz="1108" b="1" dirty="0">
                <a:latin typeface="돋움체" panose="020B0609000101010101" pitchFamily="49" charset="-127"/>
                <a:ea typeface="돋움체" panose="020B0609000101010101" pitchFamily="49" charset="-127"/>
              </a:rPr>
              <a:t>5. Special Scenarios, Parameter Settings, and Application Methods  .............................................. 53</a:t>
            </a:r>
          </a:p>
          <a:p>
            <a:pPr marL="0" indent="0" latinLnBrk="1">
              <a:spcBef>
                <a:spcPct val="20000"/>
              </a:spcBef>
            </a:pPr>
            <a:r>
              <a:rPr lang="en-US" altLang="ko-KR" sz="1108" b="1" dirty="0">
                <a:latin typeface="돋움체" panose="020B0609000101010101" pitchFamily="49" charset="-127"/>
                <a:ea typeface="돋움체" panose="020B0609000101010101" pitchFamily="49" charset="-127"/>
              </a:rPr>
              <a:t>6. RemoteView (Remote Access) Settings and Description...................................................................... 94</a:t>
            </a:r>
          </a:p>
          <a:p>
            <a:pPr marL="0" indent="0" latinLnBrk="1">
              <a:spcBef>
                <a:spcPct val="20000"/>
              </a:spcBef>
            </a:pPr>
            <a:r>
              <a:rPr lang="en-US" altLang="ko-KR" sz="1108" b="1" dirty="0">
                <a:latin typeface="돋움체" panose="020B0609000101010101" pitchFamily="49" charset="-127"/>
                <a:ea typeface="돋움체" panose="020B0609000101010101" pitchFamily="49" charset="-127"/>
              </a:rPr>
              <a:t>7. LGCNS.ezControl.Modeler Modeling Method ......................................................... 96</a:t>
            </a:r>
          </a:p>
          <a:p>
            <a:pPr marL="0" indent="0" latinLnBrk="1">
              <a:spcBef>
                <a:spcPct val="20000"/>
              </a:spcBef>
            </a:pPr>
            <a:r>
              <a:rPr lang="en-US" altLang="ko-KR" sz="1108" b="1" dirty="0">
                <a:latin typeface="돋움체" panose="020B0609000101010101" pitchFamily="49" charset="-127"/>
                <a:ea typeface="돋움체" panose="020B0609000101010101" pitchFamily="49" charset="-127"/>
              </a:rPr>
              <a:t>8. How to Use the UI Modeler................................................................... 101</a:t>
            </a:r>
          </a:p>
          <a:p>
            <a:pPr marL="0" indent="0" latinLnBrk="1">
              <a:spcBef>
                <a:spcPct val="20000"/>
              </a:spcBef>
            </a:pPr>
            <a:endParaRPr lang="en-US" altLang="ko-KR" sz="1108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eaLnBrk="1" latinLnBrk="1" hangingPunct="1">
              <a:spcBef>
                <a:spcPct val="20000"/>
              </a:spcBef>
            </a:pPr>
            <a:endParaRPr lang="en-US" altLang="ko-KR" sz="1108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eaLnBrk="1" latinLnBrk="1" hangingPunct="1">
              <a:spcBef>
                <a:spcPct val="20000"/>
              </a:spcBef>
            </a:pPr>
            <a:endParaRPr lang="en-US" altLang="ko-KR" sz="1108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eaLnBrk="1" latinLnBrk="1" hangingPunct="1">
              <a:spcBef>
                <a:spcPct val="20000"/>
              </a:spcBef>
            </a:pPr>
            <a:endParaRPr lang="en-US" altLang="ko-KR" sz="1108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eaLnBrk="1" latinLnBrk="1" hangingPunct="1">
              <a:spcBef>
                <a:spcPct val="20000"/>
              </a:spcBef>
            </a:pPr>
            <a:endParaRPr lang="en-US" altLang="ko-KR" sz="1108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eaLnBrk="1" latinLnBrk="1" hangingPunct="1">
              <a:spcBef>
                <a:spcPct val="20000"/>
              </a:spcBef>
            </a:pPr>
            <a:endParaRPr lang="en-US" altLang="ko-KR" sz="1108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853" y="763847"/>
            <a:ext cx="8839200" cy="1356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376238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376238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376238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376238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376238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376238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376238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376238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376238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1385" b="1" dirty="0">
                <a:latin typeface="돋움체" panose="020B0609000101010101" pitchFamily="49" charset="-127"/>
                <a:ea typeface="돋움체" panose="020B0609000101010101" pitchFamily="49" charset="-127"/>
              </a:rPr>
              <a:t>2. CNVC CIM Setup</a:t>
            </a:r>
          </a:p>
          <a:p>
            <a:pPr eaLnBrk="1" latinLnBrk="1" hangingPunct="1"/>
            <a:endParaRPr lang="en-US" altLang="ko-KR" sz="646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108" dirty="0">
                <a:latin typeface="돋움체" panose="020B0609000101010101" pitchFamily="49" charset="-127"/>
                <a:ea typeface="돋움체" panose="020B0609000101010101" pitchFamily="49" charset="-127"/>
              </a:rPr>
              <a:t>1. Installing the CNVC CIM Software</a:t>
            </a:r>
          </a:p>
          <a:p>
            <a:endParaRPr lang="ko-KR" altLang="en-US" sz="462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108" dirty="0">
                <a:latin typeface="돋움체" panose="020B0609000101010101" pitchFamily="49" charset="-127"/>
                <a:ea typeface="돋움체" panose="020B0609000101010101" pitchFamily="49" charset="-127"/>
              </a:rPr>
              <a:t>Extract the CNV CIM archive from the deployment file</a:t>
            </a:r>
            <a:endParaRPr lang="en-US" altLang="ko-KR" sz="1015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en-US" altLang="ko-KR" sz="462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15" dirty="0">
                <a:latin typeface="돋움체" panose="020B0609000101010101" pitchFamily="49" charset="-127"/>
                <a:ea typeface="돋움체" panose="020B0609000101010101" pitchFamily="49" charset="-127"/>
              </a:rPr>
              <a:t>2. Installing the Factova Connector</a:t>
            </a:r>
          </a:p>
          <a:p>
            <a:pPr lvl="1"/>
            <a:r>
              <a:rPr lang="en-US" altLang="ko-KR" sz="1015" dirty="0">
                <a:latin typeface="돋움체" panose="020B0609000101010101" pitchFamily="49" charset="-127"/>
                <a:ea typeface="돋움체" panose="020B0609000101010101" pitchFamily="49" charset="-127"/>
              </a:rPr>
              <a:t>Unzip the FAConnector.zip file from the distribution package -&gt; Run the FAConnectorSetup.msi file -&gt; Follow the steps shown in the figure below (※Serial number required!!)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58" y="4492626"/>
            <a:ext cx="1094827" cy="263313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3" y="4947907"/>
            <a:ext cx="2655277" cy="90560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62" y="2206623"/>
            <a:ext cx="2038246" cy="25478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883" y="2773030"/>
            <a:ext cx="1862654" cy="15287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3109" y="2773031"/>
            <a:ext cx="1876316" cy="15287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553" y="2769293"/>
            <a:ext cx="1872579" cy="15324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2605" y="2765555"/>
            <a:ext cx="1887530" cy="153618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1928" y="4492626"/>
            <a:ext cx="1872579" cy="1536186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8110" y="4492626"/>
            <a:ext cx="1876316" cy="15361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1627" y="4492626"/>
            <a:ext cx="1883791" cy="15399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Line 14"/>
          <p:cNvSpPr>
            <a:spLocks noChangeShapeType="1"/>
          </p:cNvSpPr>
          <p:nvPr/>
        </p:nvSpPr>
        <p:spPr bwMode="auto">
          <a:xfrm flipV="1">
            <a:off x="2112650" y="3595232"/>
            <a:ext cx="26028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 sz="1662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 flipV="1">
            <a:off x="4267029" y="3595232"/>
            <a:ext cx="26028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 sz="1662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 flipV="1">
            <a:off x="6399131" y="3595232"/>
            <a:ext cx="26028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 sz="1662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 flipH="1">
            <a:off x="3955381" y="3786116"/>
            <a:ext cx="2704034" cy="71720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 sz="1662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8" name="Line 14"/>
          <p:cNvSpPr>
            <a:spLocks noChangeShapeType="1"/>
          </p:cNvSpPr>
          <p:nvPr/>
        </p:nvSpPr>
        <p:spPr bwMode="auto">
          <a:xfrm flipV="1">
            <a:off x="2152536" y="5250826"/>
            <a:ext cx="879495" cy="17969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 sz="1662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 flipV="1">
            <a:off x="2317784" y="5441711"/>
            <a:ext cx="746683" cy="24003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 sz="1662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20" name="Line 14"/>
          <p:cNvSpPr>
            <a:spLocks noChangeShapeType="1"/>
          </p:cNvSpPr>
          <p:nvPr/>
        </p:nvSpPr>
        <p:spPr bwMode="auto">
          <a:xfrm flipV="1">
            <a:off x="4837876" y="5400710"/>
            <a:ext cx="26028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 sz="1662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 flipV="1">
            <a:off x="6904004" y="5400710"/>
            <a:ext cx="26028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 sz="1662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22" name="Line 14"/>
          <p:cNvSpPr>
            <a:spLocks noChangeShapeType="1"/>
          </p:cNvSpPr>
          <p:nvPr/>
        </p:nvSpPr>
        <p:spPr bwMode="auto">
          <a:xfrm>
            <a:off x="1173921" y="4624282"/>
            <a:ext cx="155056" cy="32362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 sz="1662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26" name="직사각형 25"/>
          <p:cNvSpPr/>
          <p:nvPr/>
        </p:nvSpPr>
        <p:spPr bwMode="auto">
          <a:xfrm>
            <a:off x="1240274" y="5362319"/>
            <a:ext cx="860310" cy="25572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47305"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en-US" sz="1108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750040" y="5556006"/>
            <a:ext cx="1544373" cy="25572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47305"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en-US" sz="1108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12569" y="2040896"/>
            <a:ext cx="542574" cy="6345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9" name="Line 14"/>
          <p:cNvSpPr>
            <a:spLocks noChangeShapeType="1"/>
          </p:cNvSpPr>
          <p:nvPr/>
        </p:nvSpPr>
        <p:spPr bwMode="auto">
          <a:xfrm flipH="1" flipV="1">
            <a:off x="2558788" y="2300610"/>
            <a:ext cx="1153781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 sz="1662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0" name="Line 14"/>
          <p:cNvSpPr>
            <a:spLocks noChangeShapeType="1"/>
          </p:cNvSpPr>
          <p:nvPr/>
        </p:nvSpPr>
        <p:spPr bwMode="auto">
          <a:xfrm flipH="1">
            <a:off x="1379751" y="2488891"/>
            <a:ext cx="1740" cy="34188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 sz="1662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1" name="직사각형 30"/>
          <p:cNvSpPr/>
          <p:nvPr/>
        </p:nvSpPr>
        <p:spPr bwMode="auto">
          <a:xfrm>
            <a:off x="6697255" y="3497812"/>
            <a:ext cx="615180" cy="25572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47305"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en-US" sz="1108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1335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227</Words>
  <Application>Microsoft Office PowerPoint</Application>
  <PresentationFormat>On-screen Show (4:3)</PresentationFormat>
  <Paragraphs>64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돋움체</vt:lpstr>
      <vt:lpstr>굴림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Nurdin(Nurdin)[nurdin]</cp:lastModifiedBy>
  <cp:revision>2</cp:revision>
  <dcterms:created xsi:type="dcterms:W3CDTF">2013-01-27T09:14:16Z</dcterms:created>
  <dcterms:modified xsi:type="dcterms:W3CDTF">2026-07-30T07:37:59Z</dcterms:modified>
  <cp:category/>
</cp:coreProperties>
</file>