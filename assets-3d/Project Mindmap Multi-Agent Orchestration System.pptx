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18288000" cy="10287000"/>
  <p:notesSz cx="6858000" cy="9144000"/>
  <p:embeddedFontLst>
    <p:embeddedFont>
      <p:font typeface="Calibri" panose="020F0502020204030204" pitchFamily="34" charset="0"/>
      <p:regular r:id="rId5"/>
      <p:bold r:id="rId6"/>
      <p:italic r:id="rId7"/>
      <p:boldItalic r:id="rId8"/>
    </p:embeddedFont>
    <p:embeddedFont>
      <p:font typeface="DM Sans Bold" panose="020B0604020202020204" charset="0"/>
      <p:regular r:id="rId9"/>
    </p:embeddedFont>
    <p:embeddedFont>
      <p:font typeface="Poppins" panose="020B0604020202020204" charset="0"/>
      <p:regular r:id="rId10"/>
    </p:embeddedFont>
    <p:embeddedFont>
      <p:font typeface="Poppins Bold" panose="020B0604020202020204" charset="0"/>
      <p:regular r:id="rId11"/>
    </p:embeddedFont>
    <p:embeddedFont>
      <p:font typeface="Poppins Medium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66" d="100"/>
          <a:sy n="66" d="100"/>
        </p:scale>
        <p:origin x="4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10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font" Target="fonts/font5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80733" y="-728970"/>
            <a:ext cx="5931204" cy="13366093"/>
          </a:xfrm>
          <a:custGeom>
            <a:avLst/>
            <a:gdLst/>
            <a:ahLst/>
            <a:cxnLst/>
            <a:rect l="l" t="t" r="r" b="b"/>
            <a:pathLst>
              <a:path w="5931204" h="13366093">
                <a:moveTo>
                  <a:pt x="0" y="0"/>
                </a:moveTo>
                <a:lnTo>
                  <a:pt x="5931204" y="0"/>
                </a:lnTo>
                <a:lnTo>
                  <a:pt x="5931204" y="13366093"/>
                </a:lnTo>
                <a:lnTo>
                  <a:pt x="0" y="13366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246186" y="1354638"/>
            <a:ext cx="2759903" cy="584681"/>
            <a:chOff x="0" y="0"/>
            <a:chExt cx="726888" cy="1539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26888" cy="153990"/>
            </a:xfrm>
            <a:custGeom>
              <a:avLst/>
              <a:gdLst/>
              <a:ahLst/>
              <a:cxnLst/>
              <a:rect l="l" t="t" r="r" b="b"/>
              <a:pathLst>
                <a:path w="726888" h="153990">
                  <a:moveTo>
                    <a:pt x="76995" y="0"/>
                  </a:moveTo>
                  <a:lnTo>
                    <a:pt x="649893" y="0"/>
                  </a:lnTo>
                  <a:cubicBezTo>
                    <a:pt x="670313" y="0"/>
                    <a:pt x="689897" y="8112"/>
                    <a:pt x="704337" y="22551"/>
                  </a:cubicBezTo>
                  <a:cubicBezTo>
                    <a:pt x="718776" y="36991"/>
                    <a:pt x="726888" y="56575"/>
                    <a:pt x="726888" y="76995"/>
                  </a:cubicBezTo>
                  <a:lnTo>
                    <a:pt x="726888" y="76995"/>
                  </a:lnTo>
                  <a:cubicBezTo>
                    <a:pt x="726888" y="97415"/>
                    <a:pt x="718776" y="116999"/>
                    <a:pt x="704337" y="131439"/>
                  </a:cubicBezTo>
                  <a:cubicBezTo>
                    <a:pt x="689897" y="145878"/>
                    <a:pt x="670313" y="153990"/>
                    <a:pt x="649893" y="153990"/>
                  </a:cubicBezTo>
                  <a:lnTo>
                    <a:pt x="76995" y="153990"/>
                  </a:lnTo>
                  <a:cubicBezTo>
                    <a:pt x="56575" y="153990"/>
                    <a:pt x="36991" y="145878"/>
                    <a:pt x="22551" y="131439"/>
                  </a:cubicBezTo>
                  <a:cubicBezTo>
                    <a:pt x="8112" y="116999"/>
                    <a:pt x="0" y="97415"/>
                    <a:pt x="0" y="76995"/>
                  </a:cubicBezTo>
                  <a:lnTo>
                    <a:pt x="0" y="76995"/>
                  </a:lnTo>
                  <a:cubicBezTo>
                    <a:pt x="0" y="56575"/>
                    <a:pt x="8112" y="36991"/>
                    <a:pt x="22551" y="22551"/>
                  </a:cubicBezTo>
                  <a:cubicBezTo>
                    <a:pt x="36991" y="8112"/>
                    <a:pt x="56575" y="0"/>
                    <a:pt x="76995" y="0"/>
                  </a:cubicBezTo>
                  <a:close/>
                </a:path>
              </a:pathLst>
            </a:custGeom>
            <a:solidFill>
              <a:srgbClr val="76B2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726888" cy="192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22477" y="1354638"/>
            <a:ext cx="2350061" cy="632306"/>
            <a:chOff x="0" y="0"/>
            <a:chExt cx="618946" cy="1665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18946" cy="166533"/>
            </a:xfrm>
            <a:custGeom>
              <a:avLst/>
              <a:gdLst/>
              <a:ahLst/>
              <a:cxnLst/>
              <a:rect l="l" t="t" r="r" b="b"/>
              <a:pathLst>
                <a:path w="618946" h="166533">
                  <a:moveTo>
                    <a:pt x="83267" y="0"/>
                  </a:moveTo>
                  <a:lnTo>
                    <a:pt x="535679" y="0"/>
                  </a:lnTo>
                  <a:cubicBezTo>
                    <a:pt x="581666" y="0"/>
                    <a:pt x="618946" y="37280"/>
                    <a:pt x="618946" y="83267"/>
                  </a:cubicBezTo>
                  <a:lnTo>
                    <a:pt x="618946" y="83267"/>
                  </a:lnTo>
                  <a:cubicBezTo>
                    <a:pt x="618946" y="129254"/>
                    <a:pt x="581666" y="166533"/>
                    <a:pt x="535679" y="166533"/>
                  </a:cubicBezTo>
                  <a:lnTo>
                    <a:pt x="83267" y="166533"/>
                  </a:lnTo>
                  <a:cubicBezTo>
                    <a:pt x="37280" y="166533"/>
                    <a:pt x="0" y="129254"/>
                    <a:pt x="0" y="83267"/>
                  </a:cubicBezTo>
                  <a:lnTo>
                    <a:pt x="0" y="83267"/>
                  </a:lnTo>
                  <a:cubicBezTo>
                    <a:pt x="0" y="37280"/>
                    <a:pt x="37280" y="0"/>
                    <a:pt x="83267" y="0"/>
                  </a:cubicBezTo>
                  <a:close/>
                </a:path>
              </a:pathLst>
            </a:custGeom>
            <a:solidFill>
              <a:srgbClr val="FFD848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618946" cy="2046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1557568" y="86826"/>
            <a:ext cx="4391327" cy="4023553"/>
          </a:xfrm>
          <a:custGeom>
            <a:avLst/>
            <a:gdLst/>
            <a:ahLst/>
            <a:cxnLst/>
            <a:rect l="l" t="t" r="r" b="b"/>
            <a:pathLst>
              <a:path w="4391327" h="4023553">
                <a:moveTo>
                  <a:pt x="0" y="0"/>
                </a:moveTo>
                <a:lnTo>
                  <a:pt x="4391327" y="0"/>
                </a:lnTo>
                <a:lnTo>
                  <a:pt x="4391327" y="4023554"/>
                </a:lnTo>
                <a:lnTo>
                  <a:pt x="0" y="40235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820102" y="8499273"/>
            <a:ext cx="4336312" cy="3983987"/>
          </a:xfrm>
          <a:custGeom>
            <a:avLst/>
            <a:gdLst/>
            <a:ahLst/>
            <a:cxnLst/>
            <a:rect l="l" t="t" r="r" b="b"/>
            <a:pathLst>
              <a:path w="4336312" h="3983987">
                <a:moveTo>
                  <a:pt x="0" y="0"/>
                </a:moveTo>
                <a:lnTo>
                  <a:pt x="4336312" y="0"/>
                </a:lnTo>
                <a:lnTo>
                  <a:pt x="4336312" y="3983987"/>
                </a:lnTo>
                <a:lnTo>
                  <a:pt x="0" y="39839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5579306" y="2678760"/>
            <a:ext cx="2339963" cy="2297802"/>
          </a:xfrm>
          <a:custGeom>
            <a:avLst/>
            <a:gdLst/>
            <a:ahLst/>
            <a:cxnLst/>
            <a:rect l="l" t="t" r="r" b="b"/>
            <a:pathLst>
              <a:path w="2339963" h="2297802">
                <a:moveTo>
                  <a:pt x="0" y="0"/>
                </a:moveTo>
                <a:lnTo>
                  <a:pt x="2339963" y="0"/>
                </a:lnTo>
                <a:lnTo>
                  <a:pt x="2339963" y="2297801"/>
                </a:lnTo>
                <a:lnTo>
                  <a:pt x="0" y="22978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2737293" y="7968517"/>
            <a:ext cx="13115568" cy="1551842"/>
          </a:xfrm>
          <a:custGeom>
            <a:avLst/>
            <a:gdLst/>
            <a:ahLst/>
            <a:cxnLst/>
            <a:rect l="l" t="t" r="r" b="b"/>
            <a:pathLst>
              <a:path w="13115568" h="1551842">
                <a:moveTo>
                  <a:pt x="0" y="0"/>
                </a:moveTo>
                <a:lnTo>
                  <a:pt x="13115568" y="0"/>
                </a:lnTo>
                <a:lnTo>
                  <a:pt x="13115568" y="1551842"/>
                </a:lnTo>
                <a:lnTo>
                  <a:pt x="0" y="15518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733145" y="3302890"/>
            <a:ext cx="1049426" cy="104942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848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854453" y="3424197"/>
            <a:ext cx="806811" cy="806811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BF6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876234" y="7890794"/>
            <a:ext cx="954033" cy="954033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4EBA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986515" y="8001075"/>
            <a:ext cx="733472" cy="73347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BF6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1902094" y="3004200"/>
            <a:ext cx="630477" cy="920405"/>
          </a:xfrm>
          <a:custGeom>
            <a:avLst/>
            <a:gdLst/>
            <a:ahLst/>
            <a:cxnLst/>
            <a:rect l="l" t="t" r="r" b="b"/>
            <a:pathLst>
              <a:path w="630477" h="920405">
                <a:moveTo>
                  <a:pt x="0" y="0"/>
                </a:moveTo>
                <a:lnTo>
                  <a:pt x="630477" y="0"/>
                </a:lnTo>
                <a:lnTo>
                  <a:pt x="630477" y="920405"/>
                </a:lnTo>
                <a:lnTo>
                  <a:pt x="0" y="9204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838575" y="6871714"/>
            <a:ext cx="1019164" cy="1592067"/>
          </a:xfrm>
          <a:custGeom>
            <a:avLst/>
            <a:gdLst/>
            <a:ahLst/>
            <a:cxnLst/>
            <a:rect l="l" t="t" r="r" b="b"/>
            <a:pathLst>
              <a:path w="1019164" h="1592067">
                <a:moveTo>
                  <a:pt x="0" y="0"/>
                </a:moveTo>
                <a:lnTo>
                  <a:pt x="1019164" y="0"/>
                </a:lnTo>
                <a:lnTo>
                  <a:pt x="1019164" y="1592067"/>
                </a:lnTo>
                <a:lnTo>
                  <a:pt x="0" y="15920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5136126" y="2126601"/>
            <a:ext cx="3012757" cy="2323463"/>
          </a:xfrm>
          <a:custGeom>
            <a:avLst/>
            <a:gdLst/>
            <a:ahLst/>
            <a:cxnLst/>
            <a:rect l="l" t="t" r="r" b="b"/>
            <a:pathLst>
              <a:path w="3012757" h="2323463">
                <a:moveTo>
                  <a:pt x="0" y="0"/>
                </a:moveTo>
                <a:lnTo>
                  <a:pt x="3012757" y="0"/>
                </a:lnTo>
                <a:lnTo>
                  <a:pt x="3012757" y="2323463"/>
                </a:lnTo>
                <a:lnTo>
                  <a:pt x="0" y="232346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8445305" y="7445256"/>
            <a:ext cx="1307131" cy="1529135"/>
          </a:xfrm>
          <a:custGeom>
            <a:avLst/>
            <a:gdLst/>
            <a:ahLst/>
            <a:cxnLst/>
            <a:rect l="l" t="t" r="r" b="b"/>
            <a:pathLst>
              <a:path w="1307131" h="1529135">
                <a:moveTo>
                  <a:pt x="0" y="0"/>
                </a:moveTo>
                <a:lnTo>
                  <a:pt x="1307130" y="0"/>
                </a:lnTo>
                <a:lnTo>
                  <a:pt x="1307130" y="1529135"/>
                </a:lnTo>
                <a:lnTo>
                  <a:pt x="0" y="15291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9128279" y="-940041"/>
            <a:ext cx="2565150" cy="1478168"/>
          </a:xfrm>
          <a:custGeom>
            <a:avLst/>
            <a:gdLst/>
            <a:ahLst/>
            <a:cxnLst/>
            <a:rect l="l" t="t" r="r" b="b"/>
            <a:pathLst>
              <a:path w="2565150" h="1478168">
                <a:moveTo>
                  <a:pt x="0" y="0"/>
                </a:moveTo>
                <a:lnTo>
                  <a:pt x="2565150" y="0"/>
                </a:lnTo>
                <a:lnTo>
                  <a:pt x="2565150" y="1478168"/>
                </a:lnTo>
                <a:lnTo>
                  <a:pt x="0" y="147816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5274442" y="6569766"/>
            <a:ext cx="1054789" cy="914042"/>
          </a:xfrm>
          <a:custGeom>
            <a:avLst/>
            <a:gdLst/>
            <a:ahLst/>
            <a:cxnLst/>
            <a:rect l="l" t="t" r="r" b="b"/>
            <a:pathLst>
              <a:path w="1054789" h="914042">
                <a:moveTo>
                  <a:pt x="0" y="0"/>
                </a:moveTo>
                <a:lnTo>
                  <a:pt x="1054789" y="0"/>
                </a:lnTo>
                <a:lnTo>
                  <a:pt x="1054789" y="914042"/>
                </a:lnTo>
                <a:lnTo>
                  <a:pt x="0" y="91404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3822851" y="2482244"/>
            <a:ext cx="9644055" cy="1205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95"/>
              </a:lnSpc>
            </a:pPr>
            <a:r>
              <a:rPr lang="en-US" sz="4695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 </a:t>
            </a:r>
            <a:r>
              <a:rPr lang="en-US" sz="4695" b="1" dirty="0" err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Mindmap</a:t>
            </a:r>
            <a:r>
              <a:rPr lang="en-US" sz="4695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: Personal Multi-Agent Orchestration System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843816" y="3813597"/>
            <a:ext cx="5828848" cy="308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25"/>
              </a:lnSpc>
            </a:pPr>
            <a:r>
              <a:rPr lang="en-US" sz="1732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Development Status &amp; Structural Checkpoint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3466907" y="1426378"/>
            <a:ext cx="3697249" cy="610379"/>
            <a:chOff x="0" y="0"/>
            <a:chExt cx="973761" cy="16075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73761" cy="160758"/>
            </a:xfrm>
            <a:custGeom>
              <a:avLst/>
              <a:gdLst/>
              <a:ahLst/>
              <a:cxnLst/>
              <a:rect l="l" t="t" r="r" b="b"/>
              <a:pathLst>
                <a:path w="973761" h="160758">
                  <a:moveTo>
                    <a:pt x="80379" y="0"/>
                  </a:moveTo>
                  <a:lnTo>
                    <a:pt x="893382" y="0"/>
                  </a:lnTo>
                  <a:cubicBezTo>
                    <a:pt x="914700" y="0"/>
                    <a:pt x="935145" y="8468"/>
                    <a:pt x="950219" y="23542"/>
                  </a:cubicBezTo>
                  <a:cubicBezTo>
                    <a:pt x="965293" y="38616"/>
                    <a:pt x="973761" y="59061"/>
                    <a:pt x="973761" y="80379"/>
                  </a:cubicBezTo>
                  <a:lnTo>
                    <a:pt x="973761" y="80379"/>
                  </a:lnTo>
                  <a:cubicBezTo>
                    <a:pt x="973761" y="101697"/>
                    <a:pt x="965293" y="122142"/>
                    <a:pt x="950219" y="137216"/>
                  </a:cubicBezTo>
                  <a:cubicBezTo>
                    <a:pt x="935145" y="152290"/>
                    <a:pt x="914700" y="160758"/>
                    <a:pt x="893382" y="160758"/>
                  </a:cubicBezTo>
                  <a:lnTo>
                    <a:pt x="80379" y="160758"/>
                  </a:lnTo>
                  <a:cubicBezTo>
                    <a:pt x="59061" y="160758"/>
                    <a:pt x="38616" y="152290"/>
                    <a:pt x="23542" y="137216"/>
                  </a:cubicBezTo>
                  <a:cubicBezTo>
                    <a:pt x="8468" y="122142"/>
                    <a:pt x="0" y="101697"/>
                    <a:pt x="0" y="80379"/>
                  </a:cubicBezTo>
                  <a:lnTo>
                    <a:pt x="0" y="80379"/>
                  </a:lnTo>
                  <a:cubicBezTo>
                    <a:pt x="0" y="59061"/>
                    <a:pt x="8468" y="38616"/>
                    <a:pt x="23542" y="23542"/>
                  </a:cubicBezTo>
                  <a:cubicBezTo>
                    <a:pt x="38616" y="8468"/>
                    <a:pt x="59061" y="0"/>
                    <a:pt x="80379" y="0"/>
                  </a:cubicBezTo>
                  <a:close/>
                </a:path>
              </a:pathLst>
            </a:custGeom>
            <a:solidFill>
              <a:srgbClr val="FF4EBA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973761" cy="1988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3669177" y="1504508"/>
            <a:ext cx="3202794" cy="358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798"/>
              </a:lnSpc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Status Checkpoint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733145" y="1469157"/>
            <a:ext cx="2086323" cy="275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30"/>
              </a:lnSpc>
            </a:pPr>
            <a:r>
              <a:rPr lang="en-US" sz="152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Presented By: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782062" y="1458083"/>
            <a:ext cx="2018446" cy="249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21"/>
              </a:lnSpc>
            </a:pPr>
            <a:r>
              <a:rPr lang="en-US" sz="144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Ian Xiaohei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29505" y="535167"/>
            <a:ext cx="481711" cy="2077608"/>
          </a:xfrm>
          <a:custGeom>
            <a:avLst/>
            <a:gdLst/>
            <a:ahLst/>
            <a:cxnLst/>
            <a:rect l="l" t="t" r="r" b="b"/>
            <a:pathLst>
              <a:path w="481711" h="2077608">
                <a:moveTo>
                  <a:pt x="0" y="0"/>
                </a:moveTo>
                <a:lnTo>
                  <a:pt x="481711" y="0"/>
                </a:lnTo>
                <a:lnTo>
                  <a:pt x="481711" y="2077607"/>
                </a:lnTo>
                <a:lnTo>
                  <a:pt x="0" y="20776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619457" y="2327191"/>
            <a:ext cx="481711" cy="2663577"/>
          </a:xfrm>
          <a:custGeom>
            <a:avLst/>
            <a:gdLst/>
            <a:ahLst/>
            <a:cxnLst/>
            <a:rect l="l" t="t" r="r" b="b"/>
            <a:pathLst>
              <a:path w="481711" h="2663577">
                <a:moveTo>
                  <a:pt x="0" y="0"/>
                </a:moveTo>
                <a:lnTo>
                  <a:pt x="481711" y="0"/>
                </a:lnTo>
                <a:lnTo>
                  <a:pt x="481711" y="2663577"/>
                </a:lnTo>
                <a:lnTo>
                  <a:pt x="0" y="2663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614840" y="4893230"/>
            <a:ext cx="481711" cy="1654910"/>
          </a:xfrm>
          <a:custGeom>
            <a:avLst/>
            <a:gdLst/>
            <a:ahLst/>
            <a:cxnLst/>
            <a:rect l="l" t="t" r="r" b="b"/>
            <a:pathLst>
              <a:path w="481711" h="1654910">
                <a:moveTo>
                  <a:pt x="0" y="0"/>
                </a:moveTo>
                <a:lnTo>
                  <a:pt x="481711" y="0"/>
                </a:lnTo>
                <a:lnTo>
                  <a:pt x="481711" y="1654909"/>
                </a:lnTo>
                <a:lnTo>
                  <a:pt x="0" y="16549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745479" y="6589694"/>
            <a:ext cx="731474" cy="1276347"/>
          </a:xfrm>
          <a:custGeom>
            <a:avLst/>
            <a:gdLst/>
            <a:ahLst/>
            <a:cxnLst/>
            <a:rect l="l" t="t" r="r" b="b"/>
            <a:pathLst>
              <a:path w="731474" h="1276347">
                <a:moveTo>
                  <a:pt x="0" y="0"/>
                </a:moveTo>
                <a:lnTo>
                  <a:pt x="731473" y="0"/>
                </a:lnTo>
                <a:lnTo>
                  <a:pt x="731473" y="1276347"/>
                </a:lnTo>
                <a:lnTo>
                  <a:pt x="0" y="12763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032748" y="1285538"/>
            <a:ext cx="7288658" cy="9966640"/>
          </a:xfrm>
          <a:custGeom>
            <a:avLst/>
            <a:gdLst/>
            <a:ahLst/>
            <a:cxnLst/>
            <a:rect l="l" t="t" r="r" b="b"/>
            <a:pathLst>
              <a:path w="7288658" h="9966640">
                <a:moveTo>
                  <a:pt x="0" y="0"/>
                </a:moveTo>
                <a:lnTo>
                  <a:pt x="7288658" y="0"/>
                </a:lnTo>
                <a:lnTo>
                  <a:pt x="7288658" y="9966640"/>
                </a:lnTo>
                <a:lnTo>
                  <a:pt x="0" y="99666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Freeform 7"/>
          <p:cNvSpPr/>
          <p:nvPr/>
        </p:nvSpPr>
        <p:spPr>
          <a:xfrm>
            <a:off x="15435684" y="-3705978"/>
            <a:ext cx="2704385" cy="7713772"/>
          </a:xfrm>
          <a:custGeom>
            <a:avLst/>
            <a:gdLst/>
            <a:ahLst/>
            <a:cxnLst/>
            <a:rect l="l" t="t" r="r" b="b"/>
            <a:pathLst>
              <a:path w="2704385" h="7713772">
                <a:moveTo>
                  <a:pt x="0" y="0"/>
                </a:moveTo>
                <a:lnTo>
                  <a:pt x="2704384" y="0"/>
                </a:lnTo>
                <a:lnTo>
                  <a:pt x="2704384" y="7713772"/>
                </a:lnTo>
                <a:lnTo>
                  <a:pt x="0" y="77137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0432773" y="1563265"/>
            <a:ext cx="3118760" cy="610379"/>
            <a:chOff x="0" y="0"/>
            <a:chExt cx="821402" cy="1607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21402" cy="160758"/>
            </a:xfrm>
            <a:custGeom>
              <a:avLst/>
              <a:gdLst/>
              <a:ahLst/>
              <a:cxnLst/>
              <a:rect l="l" t="t" r="r" b="b"/>
              <a:pathLst>
                <a:path w="821402" h="160758">
                  <a:moveTo>
                    <a:pt x="80379" y="0"/>
                  </a:moveTo>
                  <a:lnTo>
                    <a:pt x="741023" y="0"/>
                  </a:lnTo>
                  <a:cubicBezTo>
                    <a:pt x="762341" y="0"/>
                    <a:pt x="782785" y="8468"/>
                    <a:pt x="797859" y="23542"/>
                  </a:cubicBezTo>
                  <a:cubicBezTo>
                    <a:pt x="812933" y="38616"/>
                    <a:pt x="821402" y="59061"/>
                    <a:pt x="821402" y="80379"/>
                  </a:cubicBezTo>
                  <a:lnTo>
                    <a:pt x="821402" y="80379"/>
                  </a:lnTo>
                  <a:cubicBezTo>
                    <a:pt x="821402" y="101697"/>
                    <a:pt x="812933" y="122142"/>
                    <a:pt x="797859" y="137216"/>
                  </a:cubicBezTo>
                  <a:cubicBezTo>
                    <a:pt x="782785" y="152290"/>
                    <a:pt x="762341" y="160758"/>
                    <a:pt x="741023" y="160758"/>
                  </a:cubicBezTo>
                  <a:lnTo>
                    <a:pt x="80379" y="160758"/>
                  </a:lnTo>
                  <a:cubicBezTo>
                    <a:pt x="59061" y="160758"/>
                    <a:pt x="38616" y="152290"/>
                    <a:pt x="23542" y="137216"/>
                  </a:cubicBezTo>
                  <a:cubicBezTo>
                    <a:pt x="8468" y="122142"/>
                    <a:pt x="0" y="101697"/>
                    <a:pt x="0" y="80379"/>
                  </a:cubicBezTo>
                  <a:lnTo>
                    <a:pt x="0" y="80379"/>
                  </a:lnTo>
                  <a:cubicBezTo>
                    <a:pt x="0" y="59061"/>
                    <a:pt x="8468" y="38616"/>
                    <a:pt x="23542" y="23542"/>
                  </a:cubicBezTo>
                  <a:cubicBezTo>
                    <a:pt x="38616" y="8468"/>
                    <a:pt x="59061" y="0"/>
                    <a:pt x="80379" y="0"/>
                  </a:cubicBezTo>
                  <a:close/>
                </a:path>
              </a:pathLst>
            </a:custGeom>
            <a:solidFill>
              <a:srgbClr val="FF4EBA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21402" cy="1988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572498" y="2442488"/>
            <a:ext cx="5183072" cy="690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6"/>
              </a:lnSpc>
            </a:pPr>
            <a:r>
              <a:rPr lang="en-US" sz="1297" dirty="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Core Platform &amp; SQLite/Prisma Data Layer · Tasks Center &amp; WhatsApp Ingestion · Agent Guardrails &amp; Skills Library · Memory Vault &amp; Stable Runtime RAG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432773" y="3537132"/>
            <a:ext cx="4098632" cy="610379"/>
            <a:chOff x="0" y="0"/>
            <a:chExt cx="1079475" cy="16075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79475" cy="160758"/>
            </a:xfrm>
            <a:custGeom>
              <a:avLst/>
              <a:gdLst/>
              <a:ahLst/>
              <a:cxnLst/>
              <a:rect l="l" t="t" r="r" b="b"/>
              <a:pathLst>
                <a:path w="1079475" h="160758">
                  <a:moveTo>
                    <a:pt x="80379" y="0"/>
                  </a:moveTo>
                  <a:lnTo>
                    <a:pt x="999096" y="0"/>
                  </a:lnTo>
                  <a:cubicBezTo>
                    <a:pt x="1020414" y="0"/>
                    <a:pt x="1040859" y="8468"/>
                    <a:pt x="1055933" y="23542"/>
                  </a:cubicBezTo>
                  <a:cubicBezTo>
                    <a:pt x="1071007" y="38616"/>
                    <a:pt x="1079475" y="59061"/>
                    <a:pt x="1079475" y="80379"/>
                  </a:cubicBezTo>
                  <a:lnTo>
                    <a:pt x="1079475" y="80379"/>
                  </a:lnTo>
                  <a:cubicBezTo>
                    <a:pt x="1079475" y="101697"/>
                    <a:pt x="1071007" y="122142"/>
                    <a:pt x="1055933" y="137216"/>
                  </a:cubicBezTo>
                  <a:cubicBezTo>
                    <a:pt x="1040859" y="152290"/>
                    <a:pt x="1020414" y="160758"/>
                    <a:pt x="999096" y="160758"/>
                  </a:cubicBezTo>
                  <a:lnTo>
                    <a:pt x="80379" y="160758"/>
                  </a:lnTo>
                  <a:cubicBezTo>
                    <a:pt x="59061" y="160758"/>
                    <a:pt x="38616" y="152290"/>
                    <a:pt x="23542" y="137216"/>
                  </a:cubicBezTo>
                  <a:cubicBezTo>
                    <a:pt x="8468" y="122142"/>
                    <a:pt x="0" y="101697"/>
                    <a:pt x="0" y="80379"/>
                  </a:cubicBezTo>
                  <a:lnTo>
                    <a:pt x="0" y="80379"/>
                  </a:lnTo>
                  <a:cubicBezTo>
                    <a:pt x="0" y="59061"/>
                    <a:pt x="8468" y="38616"/>
                    <a:pt x="23542" y="23542"/>
                  </a:cubicBezTo>
                  <a:cubicBezTo>
                    <a:pt x="38616" y="8468"/>
                    <a:pt x="59061" y="0"/>
                    <a:pt x="80379" y="0"/>
                  </a:cubicBezTo>
                  <a:close/>
                </a:path>
              </a:pathLst>
            </a:custGeom>
            <a:solidFill>
              <a:srgbClr val="76B2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079475" cy="1988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572498" y="4379487"/>
            <a:ext cx="5183072" cy="690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6"/>
              </a:lnSpc>
            </a:pPr>
            <a:r>
              <a:rPr lang="en-US" sz="1297" dirty="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Dashboard Executive Layout Refinement · Final Reply Quality (fixing "Draft" fragments) · Retrieval Lab UX &amp; Maintenance Progress Metrics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572498" y="6407444"/>
            <a:ext cx="5183072" cy="462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6"/>
              </a:lnSpc>
            </a:pPr>
            <a:r>
              <a:rPr lang="en-US" sz="1297" dirty="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3D Agent Office &amp; Visual Workspace · Dynamic Routing &amp; Collaboration Flows · Advanced Knowledge Graph Analytics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576127" y="8366063"/>
            <a:ext cx="5183072" cy="462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6"/>
              </a:lnSpc>
            </a:pPr>
            <a:r>
              <a:rPr lang="en-US" sz="1297" dirty="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Multi-provider Cost &amp; Latency Tracking · Autonomous Agent Collaboration · Self-optimizing Orchestration Pipelines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712222" y="1651317"/>
            <a:ext cx="2591536" cy="258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38"/>
              </a:lnSpc>
              <a:spcBef>
                <a:spcPct val="0"/>
              </a:spcBef>
            </a:pPr>
            <a:r>
              <a:rPr lang="en-US" sz="145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Bottom Tier — DONE ✓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712222" y="3622410"/>
            <a:ext cx="3546727" cy="258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38"/>
              </a:lnSpc>
              <a:spcBef>
                <a:spcPct val="0"/>
              </a:spcBef>
            </a:pPr>
            <a:r>
              <a:rPr lang="en-US" sz="145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Middle Tier — POLISH ⚙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0432773" y="5597207"/>
            <a:ext cx="3434672" cy="610379"/>
            <a:chOff x="0" y="0"/>
            <a:chExt cx="904605" cy="16075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04605" cy="160758"/>
            </a:xfrm>
            <a:custGeom>
              <a:avLst/>
              <a:gdLst/>
              <a:ahLst/>
              <a:cxnLst/>
              <a:rect l="l" t="t" r="r" b="b"/>
              <a:pathLst>
                <a:path w="904605" h="160758">
                  <a:moveTo>
                    <a:pt x="80379" y="0"/>
                  </a:moveTo>
                  <a:lnTo>
                    <a:pt x="824226" y="0"/>
                  </a:lnTo>
                  <a:cubicBezTo>
                    <a:pt x="845544" y="0"/>
                    <a:pt x="865989" y="8468"/>
                    <a:pt x="881062" y="23542"/>
                  </a:cubicBezTo>
                  <a:cubicBezTo>
                    <a:pt x="896136" y="38616"/>
                    <a:pt x="904605" y="59061"/>
                    <a:pt x="904605" y="80379"/>
                  </a:cubicBezTo>
                  <a:lnTo>
                    <a:pt x="904605" y="80379"/>
                  </a:lnTo>
                  <a:cubicBezTo>
                    <a:pt x="904605" y="101697"/>
                    <a:pt x="896136" y="122142"/>
                    <a:pt x="881062" y="137216"/>
                  </a:cubicBezTo>
                  <a:cubicBezTo>
                    <a:pt x="865989" y="152290"/>
                    <a:pt x="845544" y="160758"/>
                    <a:pt x="824226" y="160758"/>
                  </a:cubicBezTo>
                  <a:lnTo>
                    <a:pt x="80379" y="160758"/>
                  </a:lnTo>
                  <a:cubicBezTo>
                    <a:pt x="59061" y="160758"/>
                    <a:pt x="38616" y="152290"/>
                    <a:pt x="23542" y="137216"/>
                  </a:cubicBezTo>
                  <a:cubicBezTo>
                    <a:pt x="8468" y="122142"/>
                    <a:pt x="0" y="101697"/>
                    <a:pt x="0" y="80379"/>
                  </a:cubicBezTo>
                  <a:lnTo>
                    <a:pt x="0" y="80379"/>
                  </a:lnTo>
                  <a:cubicBezTo>
                    <a:pt x="0" y="59061"/>
                    <a:pt x="8468" y="38616"/>
                    <a:pt x="23542" y="23542"/>
                  </a:cubicBezTo>
                  <a:cubicBezTo>
                    <a:pt x="38616" y="8468"/>
                    <a:pt x="59061" y="0"/>
                    <a:pt x="80379" y="0"/>
                  </a:cubicBezTo>
                  <a:close/>
                </a:path>
              </a:pathLst>
            </a:custGeom>
            <a:solidFill>
              <a:srgbClr val="FF4EBA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904605" cy="1988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0712222" y="5664615"/>
            <a:ext cx="3155223" cy="258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38"/>
              </a:lnSpc>
              <a:spcBef>
                <a:spcPct val="0"/>
              </a:spcBef>
            </a:pPr>
            <a:r>
              <a:rPr lang="en-US" sz="145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Top Tier — NEXT ROADMAP ↑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0572498" y="7611023"/>
            <a:ext cx="3686452" cy="610379"/>
            <a:chOff x="0" y="0"/>
            <a:chExt cx="970917" cy="16075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70917" cy="160758"/>
            </a:xfrm>
            <a:custGeom>
              <a:avLst/>
              <a:gdLst/>
              <a:ahLst/>
              <a:cxnLst/>
              <a:rect l="l" t="t" r="r" b="b"/>
              <a:pathLst>
                <a:path w="970917" h="160758">
                  <a:moveTo>
                    <a:pt x="80379" y="0"/>
                  </a:moveTo>
                  <a:lnTo>
                    <a:pt x="890538" y="0"/>
                  </a:lnTo>
                  <a:cubicBezTo>
                    <a:pt x="911856" y="0"/>
                    <a:pt x="932301" y="8468"/>
                    <a:pt x="947375" y="23542"/>
                  </a:cubicBezTo>
                  <a:cubicBezTo>
                    <a:pt x="962449" y="38616"/>
                    <a:pt x="970917" y="59061"/>
                    <a:pt x="970917" y="80379"/>
                  </a:cubicBezTo>
                  <a:lnTo>
                    <a:pt x="970917" y="80379"/>
                  </a:lnTo>
                  <a:cubicBezTo>
                    <a:pt x="970917" y="101697"/>
                    <a:pt x="962449" y="122142"/>
                    <a:pt x="947375" y="137216"/>
                  </a:cubicBezTo>
                  <a:cubicBezTo>
                    <a:pt x="932301" y="152290"/>
                    <a:pt x="911856" y="160758"/>
                    <a:pt x="890538" y="160758"/>
                  </a:cubicBezTo>
                  <a:lnTo>
                    <a:pt x="80379" y="160758"/>
                  </a:lnTo>
                  <a:cubicBezTo>
                    <a:pt x="59061" y="160758"/>
                    <a:pt x="38616" y="152290"/>
                    <a:pt x="23542" y="137216"/>
                  </a:cubicBezTo>
                  <a:cubicBezTo>
                    <a:pt x="8468" y="122142"/>
                    <a:pt x="0" y="101697"/>
                    <a:pt x="0" y="80379"/>
                  </a:cubicBezTo>
                  <a:lnTo>
                    <a:pt x="0" y="80379"/>
                  </a:lnTo>
                  <a:cubicBezTo>
                    <a:pt x="0" y="59061"/>
                    <a:pt x="8468" y="38616"/>
                    <a:pt x="23542" y="23542"/>
                  </a:cubicBezTo>
                  <a:cubicBezTo>
                    <a:pt x="38616" y="8468"/>
                    <a:pt x="59061" y="0"/>
                    <a:pt x="80379" y="0"/>
                  </a:cubicBezTo>
                  <a:close/>
                </a:path>
              </a:pathLst>
            </a:custGeom>
            <a:solidFill>
              <a:srgbClr val="76B2FF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970917" cy="1988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0721747" y="7727685"/>
            <a:ext cx="3294948" cy="258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38"/>
              </a:lnSpc>
              <a:spcBef>
                <a:spcPct val="0"/>
              </a:spcBef>
            </a:pPr>
            <a:r>
              <a:rPr lang="en-US" sz="145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Horizon — VISION ◇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83733" y="1473464"/>
            <a:ext cx="6658648" cy="789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76"/>
              </a:lnSpc>
            </a:pPr>
            <a:r>
              <a:rPr lang="en-US" sz="5976" b="1" spc="-328" dirty="0">
                <a:solidFill>
                  <a:srgbClr val="0B0A0A"/>
                </a:solidFill>
                <a:latin typeface="DM Sans Bold"/>
                <a:ea typeface="DM Sans Bold"/>
                <a:cs typeface="DM Sans Bold"/>
                <a:sym typeface="DM Sans Bold"/>
              </a:rPr>
              <a:t>Multi-Agent System</a:t>
            </a:r>
          </a:p>
        </p:txBody>
      </p:sp>
      <p:sp>
        <p:nvSpPr>
          <p:cNvPr id="30" name="Freeform 30"/>
          <p:cNvSpPr/>
          <p:nvPr/>
        </p:nvSpPr>
        <p:spPr>
          <a:xfrm>
            <a:off x="8003251" y="-1186781"/>
            <a:ext cx="2255004" cy="2170644"/>
          </a:xfrm>
          <a:custGeom>
            <a:avLst/>
            <a:gdLst/>
            <a:ahLst/>
            <a:cxnLst/>
            <a:rect l="l" t="t" r="r" b="b"/>
            <a:pathLst>
              <a:path w="2255004" h="2170644">
                <a:moveTo>
                  <a:pt x="0" y="0"/>
                </a:moveTo>
                <a:lnTo>
                  <a:pt x="2255005" y="0"/>
                </a:lnTo>
                <a:lnTo>
                  <a:pt x="2255005" y="2170644"/>
                </a:lnTo>
                <a:lnTo>
                  <a:pt x="0" y="21706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296682" y="4417323"/>
            <a:ext cx="1213723" cy="1119086"/>
          </a:xfrm>
          <a:custGeom>
            <a:avLst/>
            <a:gdLst/>
            <a:ahLst/>
            <a:cxnLst/>
            <a:rect l="l" t="t" r="r" b="b"/>
            <a:pathLst>
              <a:path w="1213723" h="1119086">
                <a:moveTo>
                  <a:pt x="0" y="0"/>
                </a:moveTo>
                <a:lnTo>
                  <a:pt x="1213724" y="0"/>
                </a:lnTo>
                <a:lnTo>
                  <a:pt x="1213724" y="1119086"/>
                </a:lnTo>
                <a:lnTo>
                  <a:pt x="0" y="111908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5609506" y="4772009"/>
            <a:ext cx="5867457" cy="6417984"/>
          </a:xfrm>
          <a:custGeom>
            <a:avLst/>
            <a:gdLst/>
            <a:ahLst/>
            <a:cxnLst/>
            <a:rect l="l" t="t" r="r" b="b"/>
            <a:pathLst>
              <a:path w="5867457" h="6417984">
                <a:moveTo>
                  <a:pt x="0" y="0"/>
                </a:moveTo>
                <a:lnTo>
                  <a:pt x="5867457" y="0"/>
                </a:lnTo>
                <a:lnTo>
                  <a:pt x="5867457" y="6417984"/>
                </a:lnTo>
                <a:lnTo>
                  <a:pt x="0" y="641798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-866556"/>
            <a:ext cx="16230600" cy="6394830"/>
            <a:chOff x="0" y="0"/>
            <a:chExt cx="2750634" cy="10837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50633" cy="1083745"/>
            </a:xfrm>
            <a:custGeom>
              <a:avLst/>
              <a:gdLst/>
              <a:ahLst/>
              <a:cxnLst/>
              <a:rect l="l" t="t" r="r" b="b"/>
              <a:pathLst>
                <a:path w="2750633" h="1083745">
                  <a:moveTo>
                    <a:pt x="24804" y="0"/>
                  </a:moveTo>
                  <a:lnTo>
                    <a:pt x="2725830" y="0"/>
                  </a:lnTo>
                  <a:cubicBezTo>
                    <a:pt x="2732408" y="0"/>
                    <a:pt x="2738717" y="2613"/>
                    <a:pt x="2743369" y="7265"/>
                  </a:cubicBezTo>
                  <a:cubicBezTo>
                    <a:pt x="2748020" y="11916"/>
                    <a:pt x="2750633" y="18225"/>
                    <a:pt x="2750633" y="24804"/>
                  </a:cubicBezTo>
                  <a:lnTo>
                    <a:pt x="2750633" y="1058941"/>
                  </a:lnTo>
                  <a:cubicBezTo>
                    <a:pt x="2750633" y="1072640"/>
                    <a:pt x="2739529" y="1083745"/>
                    <a:pt x="2725830" y="1083745"/>
                  </a:cubicBezTo>
                  <a:lnTo>
                    <a:pt x="24804" y="1083745"/>
                  </a:lnTo>
                  <a:cubicBezTo>
                    <a:pt x="18225" y="1083745"/>
                    <a:pt x="11916" y="1081132"/>
                    <a:pt x="7265" y="1076480"/>
                  </a:cubicBezTo>
                  <a:cubicBezTo>
                    <a:pt x="2613" y="1071829"/>
                    <a:pt x="0" y="1065520"/>
                    <a:pt x="0" y="1058941"/>
                  </a:cubicBezTo>
                  <a:lnTo>
                    <a:pt x="0" y="24804"/>
                  </a:lnTo>
                  <a:cubicBezTo>
                    <a:pt x="0" y="18225"/>
                    <a:pt x="2613" y="11916"/>
                    <a:pt x="7265" y="7265"/>
                  </a:cubicBezTo>
                  <a:cubicBezTo>
                    <a:pt x="11916" y="2613"/>
                    <a:pt x="18225" y="0"/>
                    <a:pt x="24804" y="0"/>
                  </a:cubicBezTo>
                  <a:close/>
                </a:path>
              </a:pathLst>
            </a:custGeom>
            <a:blipFill>
              <a:blip r:embed="rId2"/>
              <a:stretch>
                <a:fillRect t="-920" b="-92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544258" y="8407578"/>
            <a:ext cx="3709897" cy="610379"/>
            <a:chOff x="0" y="0"/>
            <a:chExt cx="977092" cy="16075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77092" cy="160758"/>
            </a:xfrm>
            <a:custGeom>
              <a:avLst/>
              <a:gdLst/>
              <a:ahLst/>
              <a:cxnLst/>
              <a:rect l="l" t="t" r="r" b="b"/>
              <a:pathLst>
                <a:path w="977092" h="160758">
                  <a:moveTo>
                    <a:pt x="80379" y="0"/>
                  </a:moveTo>
                  <a:lnTo>
                    <a:pt x="896713" y="0"/>
                  </a:lnTo>
                  <a:cubicBezTo>
                    <a:pt x="918031" y="0"/>
                    <a:pt x="938476" y="8468"/>
                    <a:pt x="953550" y="23542"/>
                  </a:cubicBezTo>
                  <a:cubicBezTo>
                    <a:pt x="968624" y="38616"/>
                    <a:pt x="977092" y="59061"/>
                    <a:pt x="977092" y="80379"/>
                  </a:cubicBezTo>
                  <a:lnTo>
                    <a:pt x="977092" y="80379"/>
                  </a:lnTo>
                  <a:cubicBezTo>
                    <a:pt x="977092" y="101697"/>
                    <a:pt x="968624" y="122142"/>
                    <a:pt x="953550" y="137216"/>
                  </a:cubicBezTo>
                  <a:cubicBezTo>
                    <a:pt x="938476" y="152290"/>
                    <a:pt x="918031" y="160758"/>
                    <a:pt x="896713" y="160758"/>
                  </a:cubicBezTo>
                  <a:lnTo>
                    <a:pt x="80379" y="160758"/>
                  </a:lnTo>
                  <a:cubicBezTo>
                    <a:pt x="59061" y="160758"/>
                    <a:pt x="38616" y="152290"/>
                    <a:pt x="23542" y="137216"/>
                  </a:cubicBezTo>
                  <a:cubicBezTo>
                    <a:pt x="8468" y="122142"/>
                    <a:pt x="0" y="101697"/>
                    <a:pt x="0" y="80379"/>
                  </a:cubicBezTo>
                  <a:lnTo>
                    <a:pt x="0" y="80379"/>
                  </a:lnTo>
                  <a:cubicBezTo>
                    <a:pt x="0" y="59061"/>
                    <a:pt x="8468" y="38616"/>
                    <a:pt x="23542" y="23542"/>
                  </a:cubicBezTo>
                  <a:cubicBezTo>
                    <a:pt x="38616" y="8468"/>
                    <a:pt x="59061" y="0"/>
                    <a:pt x="80379" y="0"/>
                  </a:cubicBezTo>
                  <a:close/>
                </a:path>
              </a:pathLst>
            </a:custGeom>
            <a:solidFill>
              <a:srgbClr val="76B2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77092" cy="1988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6860865" y="8548612"/>
            <a:ext cx="277139" cy="321178"/>
          </a:xfrm>
          <a:custGeom>
            <a:avLst/>
            <a:gdLst/>
            <a:ahLst/>
            <a:cxnLst/>
            <a:rect l="l" t="t" r="r" b="b"/>
            <a:pathLst>
              <a:path w="277139" h="321178">
                <a:moveTo>
                  <a:pt x="0" y="0"/>
                </a:moveTo>
                <a:lnTo>
                  <a:pt x="277139" y="0"/>
                </a:lnTo>
                <a:lnTo>
                  <a:pt x="277139" y="321178"/>
                </a:lnTo>
                <a:lnTo>
                  <a:pt x="0" y="3211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1448401" y="8353598"/>
            <a:ext cx="4888700" cy="610379"/>
            <a:chOff x="0" y="0"/>
            <a:chExt cx="1287559" cy="1607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87559" cy="160758"/>
            </a:xfrm>
            <a:custGeom>
              <a:avLst/>
              <a:gdLst/>
              <a:ahLst/>
              <a:cxnLst/>
              <a:rect l="l" t="t" r="r" b="b"/>
              <a:pathLst>
                <a:path w="1287559" h="160758">
                  <a:moveTo>
                    <a:pt x="80379" y="0"/>
                  </a:moveTo>
                  <a:lnTo>
                    <a:pt x="1207180" y="0"/>
                  </a:lnTo>
                  <a:cubicBezTo>
                    <a:pt x="1228498" y="0"/>
                    <a:pt x="1248942" y="8468"/>
                    <a:pt x="1264016" y="23542"/>
                  </a:cubicBezTo>
                  <a:cubicBezTo>
                    <a:pt x="1279090" y="38616"/>
                    <a:pt x="1287559" y="59061"/>
                    <a:pt x="1287559" y="80379"/>
                  </a:cubicBezTo>
                  <a:lnTo>
                    <a:pt x="1287559" y="80379"/>
                  </a:lnTo>
                  <a:cubicBezTo>
                    <a:pt x="1287559" y="101697"/>
                    <a:pt x="1279090" y="122142"/>
                    <a:pt x="1264016" y="137216"/>
                  </a:cubicBezTo>
                  <a:cubicBezTo>
                    <a:pt x="1248942" y="152290"/>
                    <a:pt x="1228498" y="160758"/>
                    <a:pt x="1207180" y="160758"/>
                  </a:cubicBezTo>
                  <a:lnTo>
                    <a:pt x="80379" y="160758"/>
                  </a:lnTo>
                  <a:cubicBezTo>
                    <a:pt x="59061" y="160758"/>
                    <a:pt x="38616" y="152290"/>
                    <a:pt x="23542" y="137216"/>
                  </a:cubicBezTo>
                  <a:cubicBezTo>
                    <a:pt x="8468" y="122142"/>
                    <a:pt x="0" y="101697"/>
                    <a:pt x="0" y="80379"/>
                  </a:cubicBezTo>
                  <a:lnTo>
                    <a:pt x="0" y="80379"/>
                  </a:lnTo>
                  <a:cubicBezTo>
                    <a:pt x="0" y="59061"/>
                    <a:pt x="8468" y="38616"/>
                    <a:pt x="23542" y="23542"/>
                  </a:cubicBezTo>
                  <a:cubicBezTo>
                    <a:pt x="38616" y="8468"/>
                    <a:pt x="59061" y="0"/>
                    <a:pt x="80379" y="0"/>
                  </a:cubicBezTo>
                  <a:close/>
                </a:path>
              </a:pathLst>
            </a:custGeom>
            <a:solidFill>
              <a:srgbClr val="FF4EBA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87559" cy="1988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575708" y="8512901"/>
            <a:ext cx="379473" cy="324967"/>
          </a:xfrm>
          <a:custGeom>
            <a:avLst/>
            <a:gdLst/>
            <a:ahLst/>
            <a:cxnLst/>
            <a:rect l="l" t="t" r="r" b="b"/>
            <a:pathLst>
              <a:path w="379473" h="324967">
                <a:moveTo>
                  <a:pt x="0" y="0"/>
                </a:moveTo>
                <a:lnTo>
                  <a:pt x="379473" y="0"/>
                </a:lnTo>
                <a:lnTo>
                  <a:pt x="379473" y="324967"/>
                </a:lnTo>
                <a:lnTo>
                  <a:pt x="0" y="3249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640114" y="8407578"/>
            <a:ext cx="3709897" cy="610379"/>
            <a:chOff x="0" y="0"/>
            <a:chExt cx="977092" cy="16075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77092" cy="160758"/>
            </a:xfrm>
            <a:custGeom>
              <a:avLst/>
              <a:gdLst/>
              <a:ahLst/>
              <a:cxnLst/>
              <a:rect l="l" t="t" r="r" b="b"/>
              <a:pathLst>
                <a:path w="977092" h="160758">
                  <a:moveTo>
                    <a:pt x="80379" y="0"/>
                  </a:moveTo>
                  <a:lnTo>
                    <a:pt x="896713" y="0"/>
                  </a:lnTo>
                  <a:cubicBezTo>
                    <a:pt x="918031" y="0"/>
                    <a:pt x="938476" y="8468"/>
                    <a:pt x="953550" y="23542"/>
                  </a:cubicBezTo>
                  <a:cubicBezTo>
                    <a:pt x="968624" y="38616"/>
                    <a:pt x="977092" y="59061"/>
                    <a:pt x="977092" y="80379"/>
                  </a:cubicBezTo>
                  <a:lnTo>
                    <a:pt x="977092" y="80379"/>
                  </a:lnTo>
                  <a:cubicBezTo>
                    <a:pt x="977092" y="101697"/>
                    <a:pt x="968624" y="122142"/>
                    <a:pt x="953550" y="137216"/>
                  </a:cubicBezTo>
                  <a:cubicBezTo>
                    <a:pt x="938476" y="152290"/>
                    <a:pt x="918031" y="160758"/>
                    <a:pt x="896713" y="160758"/>
                  </a:cubicBezTo>
                  <a:lnTo>
                    <a:pt x="80379" y="160758"/>
                  </a:lnTo>
                  <a:cubicBezTo>
                    <a:pt x="59061" y="160758"/>
                    <a:pt x="38616" y="152290"/>
                    <a:pt x="23542" y="137216"/>
                  </a:cubicBezTo>
                  <a:cubicBezTo>
                    <a:pt x="8468" y="122142"/>
                    <a:pt x="0" y="101697"/>
                    <a:pt x="0" y="80379"/>
                  </a:cubicBezTo>
                  <a:lnTo>
                    <a:pt x="0" y="80379"/>
                  </a:lnTo>
                  <a:cubicBezTo>
                    <a:pt x="0" y="59061"/>
                    <a:pt x="8468" y="38616"/>
                    <a:pt x="23542" y="23542"/>
                  </a:cubicBezTo>
                  <a:cubicBezTo>
                    <a:pt x="38616" y="8468"/>
                    <a:pt x="59061" y="0"/>
                    <a:pt x="80379" y="0"/>
                  </a:cubicBezTo>
                  <a:close/>
                </a:path>
              </a:pathLst>
            </a:custGeom>
            <a:solidFill>
              <a:srgbClr val="FFD848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977092" cy="1988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765940" y="8501764"/>
            <a:ext cx="324672" cy="314046"/>
          </a:xfrm>
          <a:custGeom>
            <a:avLst/>
            <a:gdLst/>
            <a:ahLst/>
            <a:cxnLst/>
            <a:rect l="l" t="t" r="r" b="b"/>
            <a:pathLst>
              <a:path w="324672" h="314046">
                <a:moveTo>
                  <a:pt x="0" y="0"/>
                </a:moveTo>
                <a:lnTo>
                  <a:pt x="324672" y="0"/>
                </a:lnTo>
                <a:lnTo>
                  <a:pt x="324672" y="314046"/>
                </a:lnTo>
                <a:lnTo>
                  <a:pt x="0" y="3140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5839115" y="4122414"/>
            <a:ext cx="2067791" cy="2056573"/>
          </a:xfrm>
          <a:custGeom>
            <a:avLst/>
            <a:gdLst/>
            <a:ahLst/>
            <a:cxnLst/>
            <a:rect l="l" t="t" r="r" b="b"/>
            <a:pathLst>
              <a:path w="2067791" h="2056573">
                <a:moveTo>
                  <a:pt x="0" y="0"/>
                </a:moveTo>
                <a:lnTo>
                  <a:pt x="2067790" y="0"/>
                </a:lnTo>
                <a:lnTo>
                  <a:pt x="2067790" y="2056573"/>
                </a:lnTo>
                <a:lnTo>
                  <a:pt x="0" y="205657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417656" y="6275095"/>
            <a:ext cx="2285351" cy="2175805"/>
          </a:xfrm>
          <a:custGeom>
            <a:avLst/>
            <a:gdLst/>
            <a:ahLst/>
            <a:cxnLst/>
            <a:rect l="l" t="t" r="r" b="b"/>
            <a:pathLst>
              <a:path w="2285351" h="2175805">
                <a:moveTo>
                  <a:pt x="0" y="0"/>
                </a:moveTo>
                <a:lnTo>
                  <a:pt x="2285351" y="0"/>
                </a:lnTo>
                <a:lnTo>
                  <a:pt x="2285351" y="2175804"/>
                </a:lnTo>
                <a:lnTo>
                  <a:pt x="0" y="217580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4166093" y="6361927"/>
            <a:ext cx="9822518" cy="951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98"/>
              </a:lnSpc>
            </a:pPr>
            <a:r>
              <a:rPr lang="en-US" sz="3698" b="1" spc="-203">
                <a:solidFill>
                  <a:srgbClr val="0B0A0A"/>
                </a:solidFill>
                <a:latin typeface="DM Sans Bold"/>
                <a:ea typeface="DM Sans Bold"/>
                <a:cs typeface="DM Sans Bold"/>
                <a:sym typeface="DM Sans Bold"/>
              </a:rPr>
              <a:t>Thank You</a:t>
            </a:r>
          </a:p>
          <a:p>
            <a:pPr marL="0" lvl="0" indent="0" algn="ctr">
              <a:lnSpc>
                <a:spcPts val="3698"/>
              </a:lnSpc>
            </a:pPr>
            <a:r>
              <a:rPr lang="en-US" sz="3698" b="1" spc="-203">
                <a:solidFill>
                  <a:srgbClr val="0B0A0A"/>
                </a:solidFill>
                <a:latin typeface="DM Sans Bold"/>
                <a:ea typeface="DM Sans Bold"/>
                <a:cs typeface="DM Sans Bold"/>
                <a:sym typeface="DM Sans Bold"/>
              </a:rPr>
              <a:t>Development Status Checkpoint Complete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10173" y="8483052"/>
            <a:ext cx="2647031" cy="417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dirty="0">
                <a:solidFill>
                  <a:srgbClr val="0B0A0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Personal Multi-Agent Orchestration System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358116" y="8587826"/>
            <a:ext cx="2496651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Structural Checkpoint · 2024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141585" y="8554964"/>
            <a:ext cx="4081683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Built with clarity. Ready for the next tier.</a:t>
            </a:r>
          </a:p>
        </p:txBody>
      </p:sp>
      <p:sp>
        <p:nvSpPr>
          <p:cNvPr id="22" name="Freeform 22"/>
          <p:cNvSpPr/>
          <p:nvPr/>
        </p:nvSpPr>
        <p:spPr>
          <a:xfrm>
            <a:off x="6806122" y="9900789"/>
            <a:ext cx="2390232" cy="1419200"/>
          </a:xfrm>
          <a:custGeom>
            <a:avLst/>
            <a:gdLst/>
            <a:ahLst/>
            <a:cxnLst/>
            <a:rect l="l" t="t" r="r" b="b"/>
            <a:pathLst>
              <a:path w="2390232" h="1419200">
                <a:moveTo>
                  <a:pt x="0" y="0"/>
                </a:moveTo>
                <a:lnTo>
                  <a:pt x="2390232" y="0"/>
                </a:lnTo>
                <a:lnTo>
                  <a:pt x="2390232" y="1419201"/>
                </a:lnTo>
                <a:lnTo>
                  <a:pt x="0" y="141920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3407220" y="5812715"/>
            <a:ext cx="935737" cy="1018729"/>
          </a:xfrm>
          <a:custGeom>
            <a:avLst/>
            <a:gdLst/>
            <a:ahLst/>
            <a:cxnLst/>
            <a:rect l="l" t="t" r="r" b="b"/>
            <a:pathLst>
              <a:path w="935737" h="1018729">
                <a:moveTo>
                  <a:pt x="0" y="0"/>
                </a:moveTo>
                <a:lnTo>
                  <a:pt x="935737" y="0"/>
                </a:lnTo>
                <a:lnTo>
                  <a:pt x="935737" y="1018729"/>
                </a:lnTo>
                <a:lnTo>
                  <a:pt x="0" y="101872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146</Words>
  <Application>Microsoft Office PowerPoint</Application>
  <PresentationFormat>Custom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Calibri</vt:lpstr>
      <vt:lpstr>Poppins Bold</vt:lpstr>
      <vt:lpstr>Poppins</vt:lpstr>
      <vt:lpstr>DM Sans Bold</vt:lpstr>
      <vt:lpstr>Arial</vt:lpstr>
      <vt:lpstr>Poppins Medium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Mindmap: Multi-Agent Orchestration System
</dc:title>
  <cp:lastModifiedBy>Nurdin(Nurdin)[nurdin]</cp:lastModifiedBy>
  <cp:revision>4</cp:revision>
  <dcterms:created xsi:type="dcterms:W3CDTF">2006-08-16T00:00:00Z</dcterms:created>
  <dcterms:modified xsi:type="dcterms:W3CDTF">2026-07-23T08:46:33Z</dcterms:modified>
  <dc:identifier>DAHQL6PD9DY</dc:identifier>
</cp:coreProperties>
</file>