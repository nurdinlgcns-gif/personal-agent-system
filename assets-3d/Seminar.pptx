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0" r:id="rId2"/>
    <p:sldId id="270" r:id="rId3"/>
    <p:sldId id="257" r:id="rId4"/>
    <p:sldId id="261" r:id="rId5"/>
    <p:sldId id="258" r:id="rId6"/>
    <p:sldId id="259" r:id="rId7"/>
    <p:sldId id="262" r:id="rId8"/>
    <p:sldId id="263" r:id="rId9"/>
    <p:sldId id="264" r:id="rId10"/>
    <p:sldId id="269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rdin(Nurdin)[nurdin]" initials="N" lastIdx="1" clrIdx="0">
    <p:extLst>
      <p:ext uri="{19B8F6BF-5375-455C-9EA6-DF929625EA0E}">
        <p15:presenceInfo xmlns:p15="http://schemas.microsoft.com/office/powerpoint/2012/main" userId="S-1-5-21-886851358-1450416589-2733106619-1364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C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902" autoAdjust="0"/>
  </p:normalViewPr>
  <p:slideViewPr>
    <p:cSldViewPr snapToGrid="0">
      <p:cViewPr varScale="1">
        <p:scale>
          <a:sx n="82" d="100"/>
          <a:sy n="82" d="100"/>
        </p:scale>
        <p:origin x="17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16C28-FBDF-4CCA-86B1-DAA2D9485F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AD1CE-B954-4E6D-81B2-EBAD81BB6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66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fontAlgn="t">
              <a:buAutoNum type="arabicParenR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Symbolic / Rule-based AI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awal AI,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bekerja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aturan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ditentukan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benar-benar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belajar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mengikuti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if-this-then-that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indent="0" fontAlgn="t"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/ Statistical AI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 itu,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berkembang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yaitu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bisa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belajar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mengikuti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aturan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manual,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menemukan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banyak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contoh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indent="0" fontAlgn="t"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muncul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yaitu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perkembangan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memakai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saraf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NLP modern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ini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bikin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jauh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untuk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hal-hal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pengenalan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gambar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bahasa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pemrosesan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kompleks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4)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Generative AI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 itu,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masuk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 era Generative AI.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ini, AI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cuma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mengenali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memprediksi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juga bisa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menghasilkan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sesuatu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gambar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IBM dan Microsoft sama-sama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menekankan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generative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fokus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5) 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AI / AI Agents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untuk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bertindak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mandiri</a:t>
            </a:r>
            <a:r>
              <a:rPr lang="en-US" dirty="0"/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keputusan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sendiri</a:t>
            </a:r>
            <a:r>
              <a:rPr lang="en-US" dirty="0"/>
              <a:t>, dan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berorientasi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Bedanya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generative AI, AI di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ini tidak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juga bisa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merencanakan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langkah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memakai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tools,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mengambil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tindakan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menyesuaikan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untukmencapai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tertentu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AD1CE-B954-4E6D-81B2-EBAD81BB6F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46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itu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singkatannya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Retrieval-Augmented Generation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Bahasa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gampangnya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RAG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AI yang </a:t>
            </a:r>
            <a:r>
              <a:rPr lang="en-US" dirty="0" err="1"/>
              <a:t>menggabungkan</a:t>
            </a:r>
            <a:r>
              <a:rPr lang="en-US" dirty="0"/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= AI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sebelum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dulu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setelah itu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nyusun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Oleh </a:t>
            </a:r>
            <a:r>
              <a:rPr lang="en-US" sz="1200" dirty="0" err="1"/>
              <a:t>karena</a:t>
            </a:r>
            <a:r>
              <a:rPr lang="en-US" sz="1200" dirty="0"/>
              <a:t> itu, pada </a:t>
            </a:r>
            <a:r>
              <a:rPr lang="en-US" sz="1200" dirty="0" err="1"/>
              <a:t>tahap</a:t>
            </a:r>
            <a:r>
              <a:rPr lang="en-US" sz="1200" dirty="0"/>
              <a:t> awal, </a:t>
            </a:r>
            <a:r>
              <a:rPr lang="en-US" sz="1200" dirty="0" err="1"/>
              <a:t>layanan</a:t>
            </a:r>
            <a:r>
              <a:rPr lang="en-US" sz="1200" dirty="0"/>
              <a:t> AI </a:t>
            </a:r>
            <a:r>
              <a:rPr lang="en-US" sz="1200" dirty="0" err="1"/>
              <a:t>berbasis</a:t>
            </a:r>
            <a:r>
              <a:rPr lang="en-US" sz="1200" dirty="0"/>
              <a:t> cloud </a:t>
            </a:r>
            <a:r>
              <a:rPr lang="en-US" sz="1200" dirty="0" err="1"/>
              <a:t>seperti</a:t>
            </a:r>
            <a:r>
              <a:rPr lang="en-US" sz="1200" dirty="0"/>
              <a:t> GPT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Groq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pilihan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praktis</a:t>
            </a:r>
            <a:r>
              <a:rPr lang="en-US" sz="1200" dirty="0"/>
              <a:t>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Supabase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platform database yang di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belakangnya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pakai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/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extension PostgreSQL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 DB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 DB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menyimpan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bentuk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sehingga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bisa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kemiripan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kata yang sama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kata, vector DB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berdasarkan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bentuk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troubleshooting dan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pertanyaan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 sama-sama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diubah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menghitung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maknanya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paling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misalnya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kalimat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reset alarm conveyor”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langkah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penanganan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alarm pada conveyor”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 itu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sebuah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itu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singkatannya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Retrieval-Augmented Generation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Bahasa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gampangnya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RAG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AI yang </a:t>
            </a:r>
            <a:r>
              <a:rPr lang="en-US" dirty="0" err="1"/>
              <a:t>menggabungkan</a:t>
            </a:r>
            <a:r>
              <a:rPr lang="en-US" dirty="0"/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= AI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sebelum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dulu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informasi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setelah itu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nyusun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 (Model Context Protocol)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Tujuannya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bisa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mengakses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context, tools, dan prompts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dahkan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…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eksternal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berkomunikasi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lain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endpoint, request, dan response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ditentukan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untuk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menghubungkan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AI/agent ke tools, data source, dan workflow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supaya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bisa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mengenali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memakai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Contoh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MCP :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mcpServers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"filesystem": {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"command":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"-y",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"@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modelcontextprotocol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/server-filesystem",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"C:/Users/NamaUserKamu/Downloads",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"C:/Users/NamaUserKamu/Documents"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]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use case-</a:t>
            </a:r>
            <a:r>
              <a:rPr lang="en-US" dirty="0" err="1"/>
              <a:t>nya</a:t>
            </a:r>
            <a:r>
              <a:rPr lang="en-US" dirty="0"/>
              <a:t>:</a:t>
            </a:r>
          </a:p>
          <a:p>
            <a:r>
              <a:rPr lang="en-US" dirty="0"/>
              <a:t>User </a:t>
            </a:r>
            <a:r>
              <a:rPr lang="en-US" dirty="0" err="1"/>
              <a:t>nanya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“Alarm X123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?”</a:t>
            </a:r>
          </a:p>
          <a:p>
            <a:r>
              <a:rPr lang="en-US" dirty="0"/>
              <a:t>“</a:t>
            </a:r>
            <a:r>
              <a:rPr lang="en-US" dirty="0" err="1"/>
              <a:t>Kalau</a:t>
            </a:r>
            <a:r>
              <a:rPr lang="en-US" dirty="0"/>
              <a:t> conveyor stop </a:t>
            </a:r>
            <a:r>
              <a:rPr lang="en-US" dirty="0" err="1"/>
              <a:t>dengan</a:t>
            </a:r>
            <a:r>
              <a:rPr lang="en-US" dirty="0"/>
              <a:t> code ini,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pengecekannya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?”</a:t>
            </a:r>
          </a:p>
          <a:p>
            <a:r>
              <a:rPr lang="en-US" dirty="0"/>
              <a:t>“Untuk error abnormal end job, </a:t>
            </a:r>
            <a:r>
              <a:rPr lang="en-US" dirty="0" err="1"/>
              <a:t>tindakan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?”</a:t>
            </a:r>
          </a:p>
          <a:p>
            <a:r>
              <a:rPr lang="en-US" dirty="0"/>
              <a:t>“Masalah ini </a:t>
            </a:r>
            <a:r>
              <a:rPr lang="en-US" dirty="0" err="1"/>
              <a:t>biasanya</a:t>
            </a:r>
            <a:r>
              <a:rPr lang="en-US" dirty="0"/>
              <a:t> root cause-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?”</a:t>
            </a:r>
          </a:p>
          <a:p>
            <a:endParaRPr lang="en-US" dirty="0"/>
          </a:p>
          <a:p>
            <a:r>
              <a:rPr lang="en-US" dirty="0" err="1"/>
              <a:t>Lalu</a:t>
            </a:r>
            <a:r>
              <a:rPr lang="en-US" dirty="0"/>
              <a:t> agent:</a:t>
            </a:r>
          </a:p>
          <a:p>
            <a:endParaRPr lang="en-US" dirty="0"/>
          </a:p>
          <a:p>
            <a:r>
              <a:rPr lang="en-US" dirty="0" err="1"/>
              <a:t>cari</a:t>
            </a:r>
            <a:r>
              <a:rPr lang="en-US" dirty="0"/>
              <a:t> ke </a:t>
            </a:r>
            <a:r>
              <a:rPr lang="en-US" dirty="0" err="1"/>
              <a:t>dokumen</a:t>
            </a:r>
            <a:r>
              <a:rPr lang="en-US" dirty="0"/>
              <a:t> troubleshooting</a:t>
            </a:r>
          </a:p>
          <a:p>
            <a:r>
              <a:rPr lang="en-US" dirty="0"/>
              <a:t>ambil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relevan</a:t>
            </a:r>
            <a:endParaRPr lang="en-US" dirty="0"/>
          </a:p>
          <a:p>
            <a:r>
              <a:rPr lang="en-US" dirty="0" err="1"/>
              <a:t>rangkum</a:t>
            </a:r>
            <a:r>
              <a:rPr lang="en-US" dirty="0"/>
              <a:t> ke </a:t>
            </a:r>
            <a:r>
              <a:rPr lang="en-US" dirty="0" err="1"/>
              <a:t>jawaban</a:t>
            </a:r>
            <a:r>
              <a:rPr lang="en-US" dirty="0"/>
              <a:t> yang </a:t>
            </a:r>
            <a:r>
              <a:rPr lang="en-US" dirty="0" err="1"/>
              <a:t>gampang</a:t>
            </a:r>
            <a:r>
              <a:rPr lang="en-US" dirty="0"/>
              <a:t> </a:t>
            </a:r>
            <a:r>
              <a:rPr lang="en-US" dirty="0" err="1"/>
              <a:t>dibaca</a:t>
            </a:r>
            <a:endParaRPr lang="en-US" dirty="0"/>
          </a:p>
          <a:p>
            <a:r>
              <a:rPr lang="en-US" dirty="0" err="1"/>
              <a:t>kasih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source /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asal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1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3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7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3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6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1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1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5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4611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59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123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84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10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70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59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0CAC5-2C9B-4D08-91E6-1CA87650E88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8EF287-6B9F-435B-A924-BDF044127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7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6720"/>
            <a:ext cx="341376" cy="341376"/>
          </a:xfrm>
          <a:prstGeom prst="line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" y="426720"/>
            <a:ext cx="341376" cy="341376"/>
          </a:xfrm>
          <a:prstGeom prst="line">
            <a:avLst/>
          </a:prstGeom>
          <a:solidFill>
            <a:srgbClr val="F4A228"/>
          </a:solidFill>
          <a:ln/>
        </p:spPr>
      </p:sp>
      <p:sp>
        <p:nvSpPr>
          <p:cNvPr id="4" name="Shape 2"/>
          <p:cNvSpPr/>
          <p:nvPr/>
        </p:nvSpPr>
        <p:spPr>
          <a:xfrm>
            <a:off x="1511808" y="426720"/>
            <a:ext cx="341376" cy="341376"/>
          </a:xfrm>
          <a:prstGeom prst="line">
            <a:avLst/>
          </a:prstGeom>
          <a:solidFill>
            <a:srgbClr val="2DC65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584960"/>
            <a:ext cx="121920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dirty="0">
                <a:latin typeface="Segoe UI Black" panose="020B0A02040204020203" pitchFamily="34" charset="0"/>
                <a:ea typeface="Segoe UI Black" panose="020B0A02040204020203" pitchFamily="34" charset="0"/>
              </a:rPr>
              <a:t>Multi‑Agent System</a:t>
            </a:r>
          </a:p>
        </p:txBody>
      </p:sp>
      <p:sp>
        <p:nvSpPr>
          <p:cNvPr id="6" name="Text 4"/>
          <p:cNvSpPr/>
          <p:nvPr/>
        </p:nvSpPr>
        <p:spPr>
          <a:xfrm>
            <a:off x="0" y="3230880"/>
            <a:ext cx="12192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kern="0" spc="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Role-based Intelligence Agent</a:t>
            </a:r>
            <a:endParaRPr lang="en-US" sz="2267" dirty="0"/>
          </a:p>
        </p:txBody>
      </p:sp>
      <p:sp>
        <p:nvSpPr>
          <p:cNvPr id="7" name="Shape 5"/>
          <p:cNvSpPr/>
          <p:nvPr/>
        </p:nvSpPr>
        <p:spPr>
          <a:xfrm>
            <a:off x="4267200" y="3901440"/>
            <a:ext cx="3657600" cy="43891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4267200" y="39014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Multiple Agents. Secure Data.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609600" y="621792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LG </a:t>
            </a:r>
            <a:r>
              <a:rPr lang="en-US" sz="1467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Sinarmas</a:t>
            </a:r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2026</a:t>
            </a:r>
            <a:endParaRPr lang="en-US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29022C4-65E9-404B-AD66-DDA5DBF412BF}"/>
              </a:ext>
            </a:extLst>
          </p:cNvPr>
          <p:cNvSpPr/>
          <p:nvPr/>
        </p:nvSpPr>
        <p:spPr>
          <a:xfrm>
            <a:off x="541675" y="613491"/>
            <a:ext cx="3271567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AI Revolution</a:t>
            </a:r>
            <a:endParaRPr lang="en-US" sz="3733" dirty="0"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BD77DD-493C-4D87-B583-344DB1B953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98" b="44805"/>
          <a:stretch/>
        </p:blipFill>
        <p:spPr>
          <a:xfrm>
            <a:off x="903862" y="3929975"/>
            <a:ext cx="8901618" cy="1429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4114D-9B18-45C6-B3A5-237ADB94B393}"/>
              </a:ext>
            </a:extLst>
          </p:cNvPr>
          <p:cNvSpPr txBox="1"/>
          <p:nvPr/>
        </p:nvSpPr>
        <p:spPr>
          <a:xfrm>
            <a:off x="903862" y="2631332"/>
            <a:ext cx="2176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Symbolic / Rule-based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F983C-35DD-4D2C-B6FA-E975DC1016B8}"/>
              </a:ext>
            </a:extLst>
          </p:cNvPr>
          <p:cNvSpPr txBox="1"/>
          <p:nvPr/>
        </p:nvSpPr>
        <p:spPr>
          <a:xfrm>
            <a:off x="2543139" y="3271086"/>
            <a:ext cx="15840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Machine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04B1D-381B-48A1-A6FA-848B42D8AEFF}"/>
              </a:ext>
            </a:extLst>
          </p:cNvPr>
          <p:cNvSpPr txBox="1"/>
          <p:nvPr/>
        </p:nvSpPr>
        <p:spPr>
          <a:xfrm>
            <a:off x="4716370" y="3280654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Deep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67F30-9EB4-4A53-9E2A-8A7DEC1716DF}"/>
              </a:ext>
            </a:extLst>
          </p:cNvPr>
          <p:cNvSpPr txBox="1"/>
          <p:nvPr/>
        </p:nvSpPr>
        <p:spPr>
          <a:xfrm>
            <a:off x="6276302" y="2636515"/>
            <a:ext cx="1327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Generative AI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140D7E-A9E1-4381-9DD4-033109642B4F}"/>
              </a:ext>
            </a:extLst>
          </p:cNvPr>
          <p:cNvSpPr txBox="1"/>
          <p:nvPr/>
        </p:nvSpPr>
        <p:spPr>
          <a:xfrm>
            <a:off x="7829485" y="3287950"/>
            <a:ext cx="1019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Agentic AI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085812-029D-48EF-9C4B-5398959148E5}"/>
              </a:ext>
            </a:extLst>
          </p:cNvPr>
          <p:cNvSpPr/>
          <p:nvPr/>
        </p:nvSpPr>
        <p:spPr>
          <a:xfrm>
            <a:off x="1822640" y="4235102"/>
            <a:ext cx="426590" cy="40985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69CD2E3-F098-4BA0-B04B-CC05617303B4}"/>
              </a:ext>
            </a:extLst>
          </p:cNvPr>
          <p:cNvSpPr/>
          <p:nvPr/>
        </p:nvSpPr>
        <p:spPr>
          <a:xfrm>
            <a:off x="3168008" y="4235103"/>
            <a:ext cx="426590" cy="40985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E06659E-8858-4E6A-8D55-AA1628AF7CEA}"/>
              </a:ext>
            </a:extLst>
          </p:cNvPr>
          <p:cNvSpPr/>
          <p:nvPr/>
        </p:nvSpPr>
        <p:spPr>
          <a:xfrm>
            <a:off x="4843273" y="4235101"/>
            <a:ext cx="426590" cy="40985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F674A6-C8D9-4AF0-BC28-C67E7C4CC22B}"/>
              </a:ext>
            </a:extLst>
          </p:cNvPr>
          <p:cNvSpPr/>
          <p:nvPr/>
        </p:nvSpPr>
        <p:spPr>
          <a:xfrm>
            <a:off x="6188641" y="4235102"/>
            <a:ext cx="426590" cy="40985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695BC5C-11E7-4E1E-915B-14E87DD63610}"/>
              </a:ext>
            </a:extLst>
          </p:cNvPr>
          <p:cNvSpPr/>
          <p:nvPr/>
        </p:nvSpPr>
        <p:spPr>
          <a:xfrm>
            <a:off x="7980427" y="4235100"/>
            <a:ext cx="426590" cy="40985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38978D7C-6711-4DBE-94F1-BD56422AF9E8}"/>
              </a:ext>
            </a:extLst>
          </p:cNvPr>
          <p:cNvCxnSpPr>
            <a:cxnSpLocks/>
            <a:stCxn id="7" idx="2"/>
            <a:endCxn id="23" idx="2"/>
          </p:cNvCxnSpPr>
          <p:nvPr/>
        </p:nvCxnSpPr>
        <p:spPr>
          <a:xfrm rot="5400000">
            <a:off x="1156931" y="3604819"/>
            <a:ext cx="1500921" cy="169501"/>
          </a:xfrm>
          <a:prstGeom prst="curvedConnector4">
            <a:avLst>
              <a:gd name="adj1" fmla="val 43173"/>
              <a:gd name="adj2" fmla="val 234866"/>
            </a:avLst>
          </a:prstGeom>
          <a:ln w="28575">
            <a:solidFill>
              <a:schemeClr val="accent1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058F4986-743F-4F91-A8AE-3D57DF0CD421}"/>
              </a:ext>
            </a:extLst>
          </p:cNvPr>
          <p:cNvCxnSpPr>
            <a:stCxn id="8" idx="2"/>
            <a:endCxn id="24" idx="2"/>
          </p:cNvCxnSpPr>
          <p:nvPr/>
        </p:nvCxnSpPr>
        <p:spPr>
          <a:xfrm rot="5400000">
            <a:off x="2821012" y="3925860"/>
            <a:ext cx="861168" cy="167175"/>
          </a:xfrm>
          <a:prstGeom prst="curvedConnector4">
            <a:avLst>
              <a:gd name="adj1" fmla="val 38102"/>
              <a:gd name="adj2" fmla="val 236743"/>
            </a:avLst>
          </a:prstGeom>
          <a:ln w="28575">
            <a:solidFill>
              <a:schemeClr val="accent1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E3056FDA-EF8F-4EF0-8F40-B6E67FB4DADE}"/>
              </a:ext>
            </a:extLst>
          </p:cNvPr>
          <p:cNvCxnSpPr>
            <a:stCxn id="9" idx="2"/>
            <a:endCxn id="25" idx="2"/>
          </p:cNvCxnSpPr>
          <p:nvPr/>
        </p:nvCxnSpPr>
        <p:spPr>
          <a:xfrm rot="5400000">
            <a:off x="4687928" y="3743776"/>
            <a:ext cx="851598" cy="540908"/>
          </a:xfrm>
          <a:prstGeom prst="curvedConnector4">
            <a:avLst>
              <a:gd name="adj1" fmla="val 37968"/>
              <a:gd name="adj2" fmla="val 142262"/>
            </a:avLst>
          </a:prstGeom>
          <a:ln w="28575">
            <a:solidFill>
              <a:schemeClr val="accent1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8B204898-750B-461A-B6CF-8E057B880C7C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 rot="5400000">
            <a:off x="6025552" y="3320676"/>
            <a:ext cx="1290810" cy="538042"/>
          </a:xfrm>
          <a:prstGeom prst="curvedConnector3">
            <a:avLst>
              <a:gd name="adj1" fmla="val 54522"/>
            </a:avLst>
          </a:prstGeom>
          <a:ln w="28575">
            <a:solidFill>
              <a:schemeClr val="accent1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85C42991-DF5E-4CED-87EF-5D0063A1C56A}"/>
              </a:ext>
            </a:extLst>
          </p:cNvPr>
          <p:cNvCxnSpPr>
            <a:stCxn id="12" idx="3"/>
            <a:endCxn id="27" idx="2"/>
          </p:cNvCxnSpPr>
          <p:nvPr/>
        </p:nvCxnSpPr>
        <p:spPr>
          <a:xfrm flipH="1">
            <a:off x="7980427" y="3441839"/>
            <a:ext cx="868632" cy="998189"/>
          </a:xfrm>
          <a:prstGeom prst="curvedConnector5">
            <a:avLst>
              <a:gd name="adj1" fmla="val -26317"/>
              <a:gd name="adj2" fmla="val 47443"/>
              <a:gd name="adj3" fmla="val 126317"/>
            </a:avLst>
          </a:prstGeom>
          <a:ln w="28575">
            <a:solidFill>
              <a:schemeClr val="accent1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38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LLM Lokal vs Cloud AI</a:t>
            </a:r>
            <a:endParaRPr lang="en-US" sz="3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582400" y="304800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1158240"/>
            <a:ext cx="3633216" cy="5425440"/>
          </a:xfrm>
          <a:prstGeom prst="roundRect">
            <a:avLst>
              <a:gd name="adj" fmla="val 402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219200"/>
            <a:ext cx="3511296" cy="877824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219200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🖥️  LLM Lokal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1682496"/>
            <a:ext cx="351129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(Ollama, dll)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218944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2C39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Kelebihan: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584704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Data tidak keluar server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3048000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Tidak ada biaya per-request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511296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Bisa dikustomisasi penuh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4096512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9731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Kekurangan: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4622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GPU mahal (Rp50-200 jt)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49011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Setup &amp; maintenance berat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5340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Kualitas model lebih rendah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57790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Butuh tim IT khusus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67200" y="1158240"/>
            <a:ext cx="3633216" cy="5425440"/>
          </a:xfrm>
          <a:prstGeom prst="roundRect">
            <a:avLst>
              <a:gd name="adj" fmla="val 402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28160" y="1219200"/>
            <a:ext cx="3511296" cy="877824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8160" y="1219200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☁️  Cloud AI General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28160" y="1682496"/>
            <a:ext cx="351129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(ChatGPT, Gemini, dll)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50080" y="2218944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2C39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Kelebihan: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50080" y="2584704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Mudah dipakai langsung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50080" y="3048000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Model paling canggih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50080" y="3633216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9731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Kekurangan: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50080" y="39989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⚠️ Data ke server pihak ketiga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50080" y="44378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⚠️ Tidak ada jaminan privasi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50080" y="48768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Biaya tidak terkontrol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50080" y="53157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CA5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 Tidak bisa dikustomisasi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07680" y="1158240"/>
            <a:ext cx="3633216" cy="5425440"/>
          </a:xfrm>
          <a:prstGeom prst="roundRect">
            <a:avLst>
              <a:gd name="adj" fmla="val 4027"/>
            </a:avLst>
          </a:prstGeom>
          <a:solidFill>
            <a:schemeClr val="tx1">
              <a:lumMod val="95000"/>
              <a:lumOff val="5000"/>
            </a:schemeClr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68640" y="1219200"/>
            <a:ext cx="3511296" cy="877824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8640" y="1219200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⚡  Hybrid RAG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168640" y="1682496"/>
            <a:ext cx="351129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</a:t>
            </a:r>
            <a:r>
              <a:rPr lang="en-US" sz="1200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Pendekatan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Ini)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39200" y="877824"/>
            <a:ext cx="2170176" cy="34137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39200" y="877824"/>
            <a:ext cx="21701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1B3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SOLUTION</a:t>
            </a:r>
            <a:endParaRPr lang="en-US" sz="1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90560" y="2218944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2C39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Kelebihan: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90560" y="2584704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Data tetap di server kita ✓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90560" y="3048000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LLM hanya dapat konteks ✓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90560" y="3511296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Tidak butuh GPU mahal ✓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90560" y="3974592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Kualitas setara cloud ✓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90560" y="4437888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+ Biaya terkontrol ✓</a:t>
            </a:r>
            <a:endParaRPr lang="en-US" sz="1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705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2480" y="1463040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1316736" y="1463040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Permasalahan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609600" y="2353056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2480" y="2353056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4A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1316736" y="2353056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</a:p>
          <a:p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09600" y="3243072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2480" y="3243072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1316736" y="3243072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</a:t>
            </a:r>
            <a:r>
              <a:rPr lang="en-US" sz="1467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Fiture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09600" y="4133088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2480" y="4133088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1316736" y="4133088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463040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4A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7107936" y="1463040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</a:t>
            </a:r>
          </a:p>
        </p:txBody>
      </p:sp>
      <p:sp>
        <p:nvSpPr>
          <p:cNvPr id="19" name="Shape 17"/>
          <p:cNvSpPr/>
          <p:nvPr/>
        </p:nvSpPr>
        <p:spPr>
          <a:xfrm>
            <a:off x="6400800" y="2353056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2353056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7107936" y="2353056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Privasi Data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6400800" y="3243072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3243072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7107936" y="3243072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Implementasi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400800" y="4133088"/>
            <a:ext cx="536448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4133088"/>
            <a:ext cx="487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4A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7107936" y="4133088"/>
            <a:ext cx="4511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67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E64F0D1C-89DF-4BEE-8FF8-520FF066CD53}"/>
              </a:ext>
            </a:extLst>
          </p:cNvPr>
          <p:cNvSpPr/>
          <p:nvPr/>
        </p:nvSpPr>
        <p:spPr>
          <a:xfrm>
            <a:off x="3376246" y="1953768"/>
            <a:ext cx="512064" cy="512064"/>
          </a:xfrm>
          <a:prstGeom prst="line">
            <a:avLst/>
          </a:prstGeom>
          <a:solidFill>
            <a:srgbClr val="E63946"/>
          </a:solidFill>
          <a:ln/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7EA23707-AC2E-4CDB-81B3-DEDD7A3AD716}"/>
              </a:ext>
            </a:extLst>
          </p:cNvPr>
          <p:cNvSpPr/>
          <p:nvPr/>
        </p:nvSpPr>
        <p:spPr>
          <a:xfrm>
            <a:off x="609600" y="1327521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</a:t>
            </a: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Belakang</a:t>
            </a:r>
            <a:endParaRPr lang="en-US" sz="16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9D7DB6F-7FE4-4410-84A2-AF1AB8D7D0A6}"/>
              </a:ext>
            </a:extLst>
          </p:cNvPr>
          <p:cNvSpPr/>
          <p:nvPr/>
        </p:nvSpPr>
        <p:spPr>
          <a:xfrm>
            <a:off x="609600" y="1905000"/>
            <a:ext cx="892126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/>
              <a:t>1. AI </a:t>
            </a:r>
            <a:r>
              <a:rPr lang="en-US" sz="1333" dirty="0" err="1"/>
              <a:t>semakin</a:t>
            </a:r>
            <a:r>
              <a:rPr lang="en-US" sz="1333" dirty="0"/>
              <a:t> </a:t>
            </a:r>
            <a:r>
              <a:rPr lang="en-US" sz="1333" dirty="0" err="1">
                <a:highlight>
                  <a:srgbClr val="FFFF00"/>
                </a:highlight>
              </a:rPr>
              <a:t>dibutuhkan</a:t>
            </a:r>
            <a:r>
              <a:rPr lang="en-US" sz="1333" dirty="0">
                <a:highlight>
                  <a:srgbClr val="FFFF00"/>
                </a:highlight>
              </a:rPr>
              <a:t> </a:t>
            </a:r>
            <a:r>
              <a:rPr lang="en-US" sz="1333" dirty="0"/>
              <a:t>untuk </a:t>
            </a:r>
            <a:r>
              <a:rPr lang="en-US" sz="1333" dirty="0" err="1"/>
              <a:t>meningkatkan</a:t>
            </a:r>
            <a:r>
              <a:rPr lang="en-US" sz="1333" dirty="0"/>
              <a:t> </a:t>
            </a:r>
            <a:r>
              <a:rPr lang="en-US" sz="1333" dirty="0" err="1"/>
              <a:t>efisiensi</a:t>
            </a:r>
            <a:r>
              <a:rPr lang="en-US" sz="1333" dirty="0"/>
              <a:t> dan </a:t>
            </a:r>
            <a:r>
              <a:rPr lang="en-US" sz="1333" dirty="0" err="1"/>
              <a:t>produktivitas</a:t>
            </a:r>
            <a:r>
              <a:rPr lang="en-US" sz="1333" dirty="0"/>
              <a:t> </a:t>
            </a:r>
            <a:r>
              <a:rPr lang="en-US" sz="1333" dirty="0" err="1"/>
              <a:t>bisnis</a:t>
            </a:r>
            <a:endParaRPr lang="en-US" sz="1333" dirty="0"/>
          </a:p>
          <a:p>
            <a:r>
              <a:rPr lang="en-US" sz="1333" dirty="0"/>
              <a:t>2. </a:t>
            </a:r>
            <a:r>
              <a:rPr lang="en-US" sz="1333" dirty="0" err="1"/>
              <a:t>Menjalankan</a:t>
            </a:r>
            <a:r>
              <a:rPr lang="en-US" sz="1333" dirty="0"/>
              <a:t> LLM </a:t>
            </a:r>
            <a:r>
              <a:rPr lang="en-US" sz="1333" dirty="0" err="1"/>
              <a:t>secara</a:t>
            </a:r>
            <a:r>
              <a:rPr lang="en-US" sz="1333" dirty="0"/>
              <a:t> </a:t>
            </a:r>
            <a:r>
              <a:rPr lang="en-US" sz="1333" dirty="0" err="1"/>
              <a:t>mandiri</a:t>
            </a:r>
            <a:r>
              <a:rPr lang="en-US" sz="1333" dirty="0"/>
              <a:t> </a:t>
            </a:r>
            <a:r>
              <a:rPr lang="en-US" sz="1333" dirty="0" err="1">
                <a:highlight>
                  <a:srgbClr val="FFFF00"/>
                </a:highlight>
              </a:rPr>
              <a:t>membutuhkan</a:t>
            </a:r>
            <a:r>
              <a:rPr lang="en-US" sz="1333" dirty="0">
                <a:highlight>
                  <a:srgbClr val="FFFF00"/>
                </a:highlight>
              </a:rPr>
              <a:t> GPU dan </a:t>
            </a:r>
            <a:r>
              <a:rPr lang="en-US" sz="1333" dirty="0" err="1">
                <a:highlight>
                  <a:srgbClr val="FFFF00"/>
                </a:highlight>
              </a:rPr>
              <a:t>infrastruktur</a:t>
            </a:r>
            <a:r>
              <a:rPr lang="en-US" sz="1333" dirty="0">
                <a:highlight>
                  <a:srgbClr val="FFFF00"/>
                </a:highlight>
              </a:rPr>
              <a:t> </a:t>
            </a:r>
            <a:r>
              <a:rPr lang="en-US" sz="1333" dirty="0" err="1"/>
              <a:t>komputasi</a:t>
            </a:r>
            <a:r>
              <a:rPr lang="en-US" sz="1333" dirty="0"/>
              <a:t> yang </a:t>
            </a:r>
            <a:r>
              <a:rPr lang="en-US" sz="1333" dirty="0" err="1">
                <a:highlight>
                  <a:srgbClr val="FFFF00"/>
                </a:highlight>
              </a:rPr>
              <a:t>besar</a:t>
            </a:r>
            <a:endParaRPr lang="en-US" sz="1333" dirty="0">
              <a:highlight>
                <a:srgbClr val="FFFF00"/>
              </a:highlight>
            </a:endParaRPr>
          </a:p>
          <a:p>
            <a:endParaRPr lang="en-US" sz="1333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7F0E3314-D1DD-4AFB-949C-8AF8C745010A}"/>
              </a:ext>
            </a:extLst>
          </p:cNvPr>
          <p:cNvSpPr/>
          <p:nvPr/>
        </p:nvSpPr>
        <p:spPr>
          <a:xfrm>
            <a:off x="609600" y="342900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Permasalahan</a:t>
            </a:r>
            <a:endParaRPr lang="en-US" sz="16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64D1E7DD-FA49-4BAE-ABBB-62EF82952ADE}"/>
              </a:ext>
            </a:extLst>
          </p:cNvPr>
          <p:cNvSpPr/>
          <p:nvPr/>
        </p:nvSpPr>
        <p:spPr>
          <a:xfrm>
            <a:off x="609600" y="4006479"/>
            <a:ext cx="892126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/>
              <a:t>1. Data </a:t>
            </a:r>
            <a:r>
              <a:rPr lang="en-US" sz="1333" dirty="0" err="1"/>
              <a:t>spesifik</a:t>
            </a:r>
            <a:r>
              <a:rPr lang="en-US" sz="1333" dirty="0"/>
              <a:t> </a:t>
            </a:r>
            <a:r>
              <a:rPr lang="en-US" sz="1333" dirty="0" err="1"/>
              <a:t>perusahaan</a:t>
            </a:r>
            <a:r>
              <a:rPr lang="en-US" sz="1333" dirty="0"/>
              <a:t> tidak </a:t>
            </a:r>
            <a:r>
              <a:rPr lang="en-US" sz="1333" dirty="0" err="1"/>
              <a:t>dapat</a:t>
            </a:r>
            <a:r>
              <a:rPr lang="en-US" sz="1333" dirty="0"/>
              <a:t> </a:t>
            </a:r>
            <a:r>
              <a:rPr lang="en-US" sz="1333" dirty="0" err="1"/>
              <a:t>dikirim</a:t>
            </a:r>
            <a:r>
              <a:rPr lang="en-US" sz="1333" dirty="0"/>
              <a:t> </a:t>
            </a:r>
            <a:r>
              <a:rPr lang="en-US" sz="1333" dirty="0" err="1"/>
              <a:t>secara</a:t>
            </a:r>
            <a:r>
              <a:rPr lang="en-US" sz="1333" dirty="0"/>
              <a:t> </a:t>
            </a:r>
            <a:r>
              <a:rPr lang="en-US" sz="1333" dirty="0" err="1"/>
              <a:t>bebas</a:t>
            </a:r>
            <a:r>
              <a:rPr lang="en-US" sz="1333" dirty="0"/>
              <a:t> ke </a:t>
            </a:r>
            <a:r>
              <a:rPr lang="en-US" sz="1333" dirty="0" err="1"/>
              <a:t>layanan</a:t>
            </a:r>
            <a:r>
              <a:rPr lang="en-US" sz="1333" dirty="0"/>
              <a:t> AI </a:t>
            </a:r>
            <a:r>
              <a:rPr lang="en-US" sz="1333" dirty="0" err="1"/>
              <a:t>eksternal</a:t>
            </a:r>
            <a:endParaRPr lang="en-US" sz="1333" dirty="0"/>
          </a:p>
          <a:p>
            <a:r>
              <a:rPr lang="en-US" sz="1333" dirty="0"/>
              <a:t>2. </a:t>
            </a:r>
            <a:r>
              <a:rPr lang="en-US" sz="1333" dirty="0" err="1"/>
              <a:t>Terdapat</a:t>
            </a:r>
            <a:r>
              <a:rPr lang="en-US" sz="1333" dirty="0"/>
              <a:t> </a:t>
            </a:r>
            <a:r>
              <a:rPr lang="en-US" sz="1333" dirty="0" err="1"/>
              <a:t>risiko</a:t>
            </a:r>
            <a:r>
              <a:rPr lang="en-US" sz="1333" dirty="0"/>
              <a:t> </a:t>
            </a:r>
            <a:r>
              <a:rPr lang="en-US" sz="1333" dirty="0" err="1"/>
              <a:t>kebocoran</a:t>
            </a:r>
            <a:r>
              <a:rPr lang="en-US" sz="1333" dirty="0"/>
              <a:t> data dan </a:t>
            </a:r>
            <a:r>
              <a:rPr lang="en-US" sz="1333" dirty="0" err="1"/>
              <a:t>pelanggaran</a:t>
            </a:r>
            <a:r>
              <a:rPr lang="en-US" sz="1333" dirty="0"/>
              <a:t> </a:t>
            </a:r>
            <a:r>
              <a:rPr lang="en-US" sz="1333" dirty="0" err="1"/>
              <a:t>privasi</a:t>
            </a:r>
            <a:endParaRPr lang="en-US" sz="1333" dirty="0"/>
          </a:p>
          <a:p>
            <a:r>
              <a:rPr lang="en-US" sz="1333" dirty="0"/>
              <a:t>3. Knowledge internal </a:t>
            </a:r>
            <a:r>
              <a:rPr lang="en-US" sz="1333" dirty="0" err="1"/>
              <a:t>perusahaan</a:t>
            </a:r>
            <a:r>
              <a:rPr lang="en-US" sz="1333" dirty="0"/>
              <a:t> </a:t>
            </a:r>
            <a:r>
              <a:rPr lang="en-US" sz="1333" dirty="0" err="1"/>
              <a:t>membutuhkan</a:t>
            </a:r>
            <a:r>
              <a:rPr lang="en-US" sz="1333" dirty="0"/>
              <a:t> </a:t>
            </a:r>
            <a:r>
              <a:rPr lang="en-US" sz="1333" dirty="0" err="1"/>
              <a:t>isolasi</a:t>
            </a:r>
            <a:r>
              <a:rPr lang="en-US" sz="1333" dirty="0"/>
              <a:t> dan </a:t>
            </a:r>
            <a:r>
              <a:rPr lang="en-US" sz="1333" dirty="0" err="1"/>
              <a:t>kontrol</a:t>
            </a:r>
            <a:r>
              <a:rPr lang="en-US" sz="1333" dirty="0"/>
              <a:t> akses yang </a:t>
            </a:r>
            <a:r>
              <a:rPr lang="en-US" sz="1333" dirty="0" err="1"/>
              <a:t>ketat</a:t>
            </a:r>
            <a:endParaRPr lang="en-US" sz="1333" dirty="0"/>
          </a:p>
          <a:p>
            <a:r>
              <a:rPr lang="en-US" sz="1333" dirty="0"/>
              <a:t>4. </a:t>
            </a:r>
            <a:r>
              <a:rPr lang="en-US" sz="1333" dirty="0" err="1"/>
              <a:t>Dibutuhkan</a:t>
            </a:r>
            <a:r>
              <a:rPr lang="en-US" sz="1333" dirty="0"/>
              <a:t> </a:t>
            </a:r>
            <a:r>
              <a:rPr lang="en-US" sz="1333" dirty="0" err="1"/>
              <a:t>solusi</a:t>
            </a:r>
            <a:r>
              <a:rPr lang="en-US" sz="1333" dirty="0"/>
              <a:t> AI yang </a:t>
            </a:r>
            <a:r>
              <a:rPr lang="en-US" sz="1333" dirty="0" err="1"/>
              <a:t>tetap</a:t>
            </a:r>
            <a:r>
              <a:rPr lang="en-US" sz="1333" dirty="0"/>
              <a:t> powerful, </a:t>
            </a:r>
            <a:r>
              <a:rPr lang="en-US" sz="1333" dirty="0" err="1"/>
              <a:t>namun</a:t>
            </a:r>
            <a:r>
              <a:rPr lang="en-US" sz="1333" dirty="0"/>
              <a:t> </a:t>
            </a:r>
            <a:r>
              <a:rPr lang="en-US" sz="1333" dirty="0" err="1"/>
              <a:t>aman</a:t>
            </a:r>
            <a:r>
              <a:rPr lang="en-US" sz="1333" dirty="0"/>
              <a:t> untuk </a:t>
            </a:r>
            <a:r>
              <a:rPr lang="en-US" sz="1333" dirty="0" err="1"/>
              <a:t>lingkungan</a:t>
            </a:r>
            <a:r>
              <a:rPr lang="en-US" sz="1333" dirty="0"/>
              <a:t>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705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/>
              <a:t>Introduction</a:t>
            </a: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Adaptive Role-based Intelligence Agent</a:t>
            </a:r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10363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Adaptive Role-based Intelligence Agent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multi-agent AI yang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memungkinkan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mengonfigurasi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 men-deploy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didukung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oleh basis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terisolasi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terkontrol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2987040"/>
            <a:ext cx="3413760" cy="20726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5632" y="3243072"/>
            <a:ext cx="512064" cy="512064"/>
          </a:xfrm>
          <a:prstGeom prst="line">
            <a:avLst/>
          </a:prstGeom>
          <a:solidFill>
            <a:srgbClr val="2DC65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47" y="3358287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4000" y="32308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829056" y="3901440"/>
            <a:ext cx="30480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agen baru beserta peran dan basis pengetahuan spesifik dalam waktu singkat.</a:t>
            </a:r>
            <a:endParaRPr lang="en-US" sz="1333" dirty="0"/>
          </a:p>
        </p:txBody>
      </p:sp>
      <p:sp>
        <p:nvSpPr>
          <p:cNvPr id="11" name="Shape 8"/>
          <p:cNvSpPr/>
          <p:nvPr/>
        </p:nvSpPr>
        <p:spPr>
          <a:xfrm>
            <a:off x="4389120" y="2987040"/>
            <a:ext cx="3413760" cy="20726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3243072"/>
            <a:ext cx="512064" cy="512064"/>
          </a:xfrm>
          <a:prstGeom prst="line">
            <a:avLst/>
          </a:prstGeom>
          <a:solidFill>
            <a:srgbClr val="F4A22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7" y="3358287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2308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4608576" y="3901440"/>
            <a:ext cx="30480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file .md sebagai basis pengetahuan — agen segera memperoleh pemahaman kontekstual.</a:t>
            </a:r>
            <a:endParaRPr lang="en-US" sz="1333" dirty="0"/>
          </a:p>
        </p:txBody>
      </p:sp>
      <p:sp>
        <p:nvSpPr>
          <p:cNvPr id="16" name="Shape 12"/>
          <p:cNvSpPr/>
          <p:nvPr/>
        </p:nvSpPr>
        <p:spPr>
          <a:xfrm>
            <a:off x="8168640" y="2987040"/>
            <a:ext cx="3413760" cy="20726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4672" y="3243072"/>
            <a:ext cx="512064" cy="512064"/>
          </a:xfrm>
          <a:prstGeom prst="line">
            <a:avLst/>
          </a:prstGeom>
          <a:solidFill>
            <a:srgbClr val="E6394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887" y="3358287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3040" y="32308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733" dirty="0"/>
          </a:p>
        </p:txBody>
      </p:sp>
      <p:sp>
        <p:nvSpPr>
          <p:cNvPr id="20" name="Text 15"/>
          <p:cNvSpPr/>
          <p:nvPr/>
        </p:nvSpPr>
        <p:spPr>
          <a:xfrm>
            <a:off x="8388096" y="3901440"/>
            <a:ext cx="30480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Terhubung langsung ke WhatsApp atau kanal lain melalui sistem @mention.</a:t>
            </a:r>
            <a:endParaRPr lang="en-US" sz="1333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669AF-7672-4C9C-9731-3819658D7094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4023360" y="4023360"/>
            <a:ext cx="3657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1AA6EC-6B2B-4CF4-A87E-887458B5A7F6}"/>
              </a:ext>
            </a:extLst>
          </p:cNvPr>
          <p:cNvCxnSpPr/>
          <p:nvPr/>
        </p:nvCxnSpPr>
        <p:spPr>
          <a:xfrm>
            <a:off x="7802880" y="4023360"/>
            <a:ext cx="3657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E5C70B-A791-48C3-9002-89054B083B5D}"/>
              </a:ext>
            </a:extLst>
          </p:cNvPr>
          <p:cNvSpPr/>
          <p:nvPr/>
        </p:nvSpPr>
        <p:spPr>
          <a:xfrm>
            <a:off x="3956877" y="3967797"/>
            <a:ext cx="117474" cy="111125"/>
          </a:xfrm>
          <a:prstGeom prst="ellipse">
            <a:avLst/>
          </a:prstGeom>
          <a:solidFill>
            <a:srgbClr val="2DC653"/>
          </a:solidFill>
          <a:ln>
            <a:solidFill>
              <a:srgbClr val="2DC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E8DFDA4-94D5-4528-A2AC-21CB24F77459}"/>
              </a:ext>
            </a:extLst>
          </p:cNvPr>
          <p:cNvSpPr/>
          <p:nvPr/>
        </p:nvSpPr>
        <p:spPr>
          <a:xfrm>
            <a:off x="4326510" y="3967797"/>
            <a:ext cx="117474" cy="111125"/>
          </a:xfrm>
          <a:prstGeom prst="ellipse">
            <a:avLst/>
          </a:prstGeom>
          <a:solidFill>
            <a:srgbClr val="2DC653"/>
          </a:solidFill>
          <a:ln>
            <a:solidFill>
              <a:srgbClr val="2DC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CA2E25-4E7D-4903-A034-146879DE73FA}"/>
              </a:ext>
            </a:extLst>
          </p:cNvPr>
          <p:cNvSpPr/>
          <p:nvPr/>
        </p:nvSpPr>
        <p:spPr>
          <a:xfrm>
            <a:off x="7744143" y="3967797"/>
            <a:ext cx="117474" cy="111125"/>
          </a:xfrm>
          <a:prstGeom prst="ellipse">
            <a:avLst/>
          </a:prstGeom>
          <a:solidFill>
            <a:srgbClr val="2DC653"/>
          </a:solidFill>
          <a:ln>
            <a:solidFill>
              <a:srgbClr val="2DC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A079E41-21E0-4DEA-98D9-B95F203A76F9}"/>
              </a:ext>
            </a:extLst>
          </p:cNvPr>
          <p:cNvSpPr/>
          <p:nvPr/>
        </p:nvSpPr>
        <p:spPr>
          <a:xfrm>
            <a:off x="8113776" y="3967797"/>
            <a:ext cx="117474" cy="111125"/>
          </a:xfrm>
          <a:prstGeom prst="ellipse">
            <a:avLst/>
          </a:prstGeom>
          <a:solidFill>
            <a:srgbClr val="2DC653"/>
          </a:solidFill>
          <a:ln>
            <a:solidFill>
              <a:srgbClr val="2DC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 </a:t>
            </a:r>
            <a:r>
              <a:rPr lang="en-US" sz="2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Adaptive Role-based Intelligence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5303520" cy="1609344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58112"/>
            <a:ext cx="463296" cy="463296"/>
          </a:xfrm>
          <a:prstGeom prst="line">
            <a:avLst/>
          </a:prstGeom>
          <a:solidFill>
            <a:srgbClr val="2DC65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762354"/>
            <a:ext cx="254813" cy="2548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2080" y="163372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Multi-Agent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804672" y="2097024"/>
            <a:ext cx="496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terpusat untuk mengelola seluruh agen AI. Setiap agen beroperasi secara independen dengan peran dan basis pengetahuan tersendiri.</a:t>
            </a:r>
            <a:endParaRPr lang="en-US" sz="1267" dirty="0"/>
          </a:p>
        </p:txBody>
      </p:sp>
      <p:sp>
        <p:nvSpPr>
          <p:cNvPr id="9" name="Shape 6"/>
          <p:cNvSpPr/>
          <p:nvPr/>
        </p:nvSpPr>
        <p:spPr>
          <a:xfrm>
            <a:off x="6278880" y="1463040"/>
            <a:ext cx="5303520" cy="1609344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658112"/>
            <a:ext cx="463296" cy="463296"/>
          </a:xfrm>
          <a:prstGeom prst="line">
            <a:avLst/>
          </a:prstGeom>
          <a:solidFill>
            <a:srgbClr val="F4A22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1762354"/>
            <a:ext cx="254813" cy="2548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1360" y="163372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Pengetahuan Privat</a:t>
            </a:r>
            <a:endParaRPr lang="en-US" sz="1467" dirty="0"/>
          </a:p>
        </p:txBody>
      </p:sp>
      <p:sp>
        <p:nvSpPr>
          <p:cNvPr id="13" name="Text 9"/>
          <p:cNvSpPr/>
          <p:nvPr/>
        </p:nvSpPr>
        <p:spPr>
          <a:xfrm>
            <a:off x="6473952" y="2097024"/>
            <a:ext cx="496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perusahaan disimpan dalam bentuk vektor di infrastruktur yang dikelola sendiri. Sistem AI hanya melakukan query tanpa menyimpan data.</a:t>
            </a:r>
            <a:endParaRPr lang="en-US" sz="1267" dirty="0"/>
          </a:p>
        </p:txBody>
      </p:sp>
      <p:sp>
        <p:nvSpPr>
          <p:cNvPr id="14" name="Shape 10"/>
          <p:cNvSpPr/>
          <p:nvPr/>
        </p:nvSpPr>
        <p:spPr>
          <a:xfrm>
            <a:off x="609600" y="3194304"/>
            <a:ext cx="5303520" cy="1609344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89376"/>
            <a:ext cx="463296" cy="463296"/>
          </a:xfrm>
          <a:prstGeom prst="line">
            <a:avLst/>
          </a:prstGeom>
          <a:solidFill>
            <a:srgbClr val="2DC65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3493618"/>
            <a:ext cx="254813" cy="2548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02080" y="336499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Pemanggilan via @Mention</a:t>
            </a:r>
            <a:endParaRPr lang="en-US" sz="1467" dirty="0"/>
          </a:p>
        </p:txBody>
      </p:sp>
      <p:sp>
        <p:nvSpPr>
          <p:cNvPr id="18" name="Text 13"/>
          <p:cNvSpPr/>
          <p:nvPr/>
        </p:nvSpPr>
        <p:spPr>
          <a:xfrm>
            <a:off x="804672" y="3828288"/>
            <a:ext cx="496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memanggil agen spesifik dari WhatsApp menggunakan @mention. Respons sesuai kompetensi agen yang dipanggil.</a:t>
            </a:r>
            <a:endParaRPr lang="en-US" sz="1267" dirty="0"/>
          </a:p>
        </p:txBody>
      </p:sp>
      <p:sp>
        <p:nvSpPr>
          <p:cNvPr id="20" name="Shape 15"/>
          <p:cNvSpPr/>
          <p:nvPr/>
        </p:nvSpPr>
        <p:spPr>
          <a:xfrm>
            <a:off x="6473952" y="3389376"/>
            <a:ext cx="463296" cy="463296"/>
          </a:xfrm>
          <a:prstGeom prst="line">
            <a:avLst/>
          </a:prstGeom>
          <a:solidFill>
            <a:srgbClr val="E63946"/>
          </a:solidFill>
          <a:ln/>
        </p:spPr>
      </p:sp>
      <p:sp>
        <p:nvSpPr>
          <p:cNvPr id="24" name="Shape 18"/>
          <p:cNvSpPr/>
          <p:nvPr/>
        </p:nvSpPr>
        <p:spPr>
          <a:xfrm>
            <a:off x="3563815" y="5047629"/>
            <a:ext cx="5303520" cy="1609344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120640"/>
            <a:ext cx="463296" cy="463296"/>
          </a:xfrm>
          <a:prstGeom prst="line">
            <a:avLst/>
          </a:prstGeom>
          <a:solidFill>
            <a:srgbClr val="2DC65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129" y="5346943"/>
            <a:ext cx="254813" cy="2548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56295" y="5218317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Data Terjamin</a:t>
            </a:r>
            <a:endParaRPr lang="en-US" sz="1467" dirty="0"/>
          </a:p>
        </p:txBody>
      </p:sp>
      <p:sp>
        <p:nvSpPr>
          <p:cNvPr id="28" name="Text 21"/>
          <p:cNvSpPr/>
          <p:nvPr/>
        </p:nvSpPr>
        <p:spPr>
          <a:xfrm>
            <a:off x="3758887" y="5681613"/>
            <a:ext cx="496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internal tidak pernah diteruskan kepada penyedia AI eksternal. Arsitektur RAG memastikan hanya konteks relevan yang diproses.</a:t>
            </a:r>
            <a:endParaRPr lang="en-US" sz="1267" dirty="0"/>
          </a:p>
        </p:txBody>
      </p:sp>
      <p:sp>
        <p:nvSpPr>
          <p:cNvPr id="29" name="Shape 22"/>
          <p:cNvSpPr/>
          <p:nvPr/>
        </p:nvSpPr>
        <p:spPr>
          <a:xfrm>
            <a:off x="6278880" y="3140847"/>
            <a:ext cx="5303520" cy="1609344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3952" y="5120640"/>
            <a:ext cx="463296" cy="463296"/>
          </a:xfrm>
          <a:prstGeom prst="line">
            <a:avLst/>
          </a:prstGeom>
          <a:solidFill>
            <a:srgbClr val="F4A22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194" y="3440161"/>
            <a:ext cx="254813" cy="25481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1360" y="3311535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Skalabilitas Tinggi</a:t>
            </a:r>
            <a:endParaRPr lang="en-US" sz="1467" dirty="0"/>
          </a:p>
        </p:txBody>
      </p:sp>
      <p:sp>
        <p:nvSpPr>
          <p:cNvPr id="33" name="Text 25"/>
          <p:cNvSpPr/>
          <p:nvPr/>
        </p:nvSpPr>
        <p:spPr>
          <a:xfrm>
            <a:off x="6473952" y="3774831"/>
            <a:ext cx="496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agen baru cukup dilakukan dengan mengunggah basis pengetahuan baru. Tidak diperlukan pelatihan ulang model dari awal.</a:t>
            </a:r>
            <a:endParaRPr lang="en-US" sz="12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</a:t>
            </a:r>
            <a:r>
              <a:rPr lang="en-US" sz="2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Adaptive Role-based Intelligence 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600" y="1402080"/>
            <a:ext cx="2072640" cy="32918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48384"/>
            <a:ext cx="1828800" cy="31699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48384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0288" y="201168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.md / Dokumen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0288" y="280416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Internal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0288" y="359664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Lain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06624" y="304800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01696" y="1402080"/>
            <a:ext cx="2072640" cy="32918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3616" y="1548384"/>
            <a:ext cx="1828800" cy="316992"/>
          </a:xfrm>
          <a:prstGeom prst="roundRect">
            <a:avLst>
              <a:gd name="adj" fmla="val 50000"/>
            </a:avLst>
          </a:prstGeom>
          <a:solidFill>
            <a:srgbClr val="F4A228"/>
          </a:solidFill>
          <a:ln/>
        </p:spPr>
      </p:sp>
      <p:sp>
        <p:nvSpPr>
          <p:cNvPr id="13" name="Text 11"/>
          <p:cNvSpPr/>
          <p:nvPr/>
        </p:nvSpPr>
        <p:spPr>
          <a:xfrm>
            <a:off x="3023616" y="1548384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72384" y="201168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pgvector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72384" y="280416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98720" y="304800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93792" y="1402080"/>
            <a:ext cx="2072640" cy="32918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15712" y="1548384"/>
            <a:ext cx="1828800" cy="316992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5315712" y="1548384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64480" y="201168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4480" y="280416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4480" y="359664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Config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90816" y="304800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85888" y="1402080"/>
            <a:ext cx="2072640" cy="32918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548384"/>
            <a:ext cx="1828800" cy="31699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/>
        </p:spPr>
      </p:sp>
      <p:sp>
        <p:nvSpPr>
          <p:cNvPr id="27" name="Text 25"/>
          <p:cNvSpPr/>
          <p:nvPr/>
        </p:nvSpPr>
        <p:spPr>
          <a:xfrm>
            <a:off x="7607808" y="1548384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Brain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56576" y="201168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Ollama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56576" y="280416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56576" y="359664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 Lokal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82912" y="304800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777984" y="1402080"/>
            <a:ext cx="2072640" cy="32918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99904" y="1548384"/>
            <a:ext cx="1828800" cy="316992"/>
          </a:xfrm>
          <a:prstGeom prst="roundRect">
            <a:avLst>
              <a:gd name="adj" fmla="val 50000"/>
            </a:avLst>
          </a:prstGeom>
          <a:solidFill>
            <a:srgbClr val="F4A228"/>
          </a:solidFill>
          <a:ln/>
        </p:spPr>
      </p:sp>
      <p:sp>
        <p:nvSpPr>
          <p:cNvPr id="34" name="Text 32"/>
          <p:cNvSpPr/>
          <p:nvPr/>
        </p:nvSpPr>
        <p:spPr>
          <a:xfrm>
            <a:off x="9899904" y="1548384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48672" y="201168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48672" y="280416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 System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48672" y="3596640"/>
            <a:ext cx="18044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9600" y="4962144"/>
            <a:ext cx="10972800" cy="950976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63168" y="5205984"/>
            <a:ext cx="463296" cy="463296"/>
          </a:xfrm>
          <a:prstGeom prst="line">
            <a:avLst/>
          </a:prstGeom>
          <a:solidFill>
            <a:srgbClr val="2DC653"/>
          </a:solidFill>
          <a:ln/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10" y="5310226"/>
            <a:ext cx="254813" cy="25481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682496" y="4962144"/>
            <a:ext cx="96316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pernah </a:t>
            </a:r>
            <a:r>
              <a:rPr lang="en-US" sz="1467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meninggalkan</a:t>
            </a:r>
            <a:r>
              <a:rPr lang="en-US" sz="1467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server. LLM hanya menerima konteks hasil query — bukan data asli.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5303520" cy="2450592"/>
          </a:xfrm>
          <a:prstGeom prst="roundRect">
            <a:avLst>
              <a:gd name="adj" fmla="val 5106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2480" y="1645920"/>
            <a:ext cx="4937760" cy="329184"/>
          </a:xfrm>
          <a:prstGeom prst="roundRect">
            <a:avLst>
              <a:gd name="adj" fmla="val 48148"/>
            </a:avLst>
          </a:prstGeom>
          <a:solidFill>
            <a:srgbClr val="2DC653"/>
          </a:solidFill>
          <a:ln/>
        </p:spPr>
      </p:sp>
      <p:sp>
        <p:nvSpPr>
          <p:cNvPr id="6" name="Text 4"/>
          <p:cNvSpPr/>
          <p:nvPr/>
        </p:nvSpPr>
        <p:spPr>
          <a:xfrm>
            <a:off x="79248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&amp; Basis Pengetahuan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9056" y="2097024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pgvector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056" y="2560320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9056" y="3023616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9056" y="3486912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Mandiri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880" y="1463040"/>
            <a:ext cx="5303520" cy="2450592"/>
          </a:xfrm>
          <a:prstGeom prst="roundRect">
            <a:avLst>
              <a:gd name="adj" fmla="val 5106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1760" y="1645920"/>
            <a:ext cx="4937760" cy="329184"/>
          </a:xfrm>
          <a:prstGeom prst="roundRect">
            <a:avLst>
              <a:gd name="adj" fmla="val 48148"/>
            </a:avLst>
          </a:prstGeom>
          <a:solidFill>
            <a:srgbClr val="F4A2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7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8336" y="2136702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8336" y="2599998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8336" y="3063294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 Agen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" y="4078224"/>
            <a:ext cx="5303520" cy="2438400"/>
          </a:xfrm>
          <a:prstGeom prst="roundRect">
            <a:avLst>
              <a:gd name="adj" fmla="val 5106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2480" y="4251960"/>
            <a:ext cx="4937760" cy="329184"/>
          </a:xfrm>
          <a:prstGeom prst="roundRect">
            <a:avLst>
              <a:gd name="adj" fmla="val 48148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792480" y="42519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Bahasa (LLM)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9056" y="5084064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tahap awal (cloud)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829056" y="5547360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tahap lanjutan (lokal)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6278880" y="4078224"/>
            <a:ext cx="5303520" cy="2450592"/>
          </a:xfrm>
          <a:prstGeom prst="roundRect">
            <a:avLst>
              <a:gd name="adj" fmla="val 5106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61760" y="4251960"/>
            <a:ext cx="4937760" cy="329184"/>
          </a:xfrm>
          <a:prstGeom prst="roundRect">
            <a:avLst>
              <a:gd name="adj" fmla="val 48148"/>
            </a:avLst>
          </a:prstGeom>
          <a:solidFill>
            <a:srgbClr val="2DC653"/>
          </a:solidFill>
          <a:ln/>
        </p:spPr>
      </p:sp>
      <p:sp>
        <p:nvSpPr>
          <p:cNvPr id="27" name="Text 25"/>
          <p:cNvSpPr/>
          <p:nvPr/>
        </p:nvSpPr>
        <p:spPr>
          <a:xfrm>
            <a:off x="6461760" y="424053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&amp;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8336" y="5084064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Gateway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6498336" y="5600446"/>
            <a:ext cx="4937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Webhook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9113520" y="5082540"/>
            <a:ext cx="2249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3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32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Privasi</a:t>
            </a: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582400" y="304800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158240"/>
            <a:ext cx="5242560" cy="1341120"/>
          </a:xfrm>
          <a:prstGeom prst="roundRect">
            <a:avLst>
              <a:gd name="adj" fmla="val 9091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2480" y="12192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📖  Analogi Sederhana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2480" y="1584960"/>
            <a:ext cx="4876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Analogi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sederhananya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AI tidak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diberi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akses ke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seluruh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perpustakaan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perusahaan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AI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hanya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diberi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fotokopi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halaman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yang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relevan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untuk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menjawab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33" i="1" dirty="0" err="1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pertanyaan</a:t>
            </a:r>
            <a:r>
              <a:rPr lang="en-US" sz="1333" i="1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0" y="120700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0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❓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66560" y="1158240"/>
            <a:ext cx="4998720" cy="609600"/>
          </a:xfrm>
          <a:prstGeom prst="roundRect">
            <a:avLst>
              <a:gd name="adj" fmla="val 14000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88480" y="1158240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 kirim pertanyaan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52032" y="1719072"/>
            <a:ext cx="0" cy="26822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096000" y="2036064"/>
            <a:ext cx="512064" cy="51206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0" y="2036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🔍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0" y="1987296"/>
            <a:ext cx="4998720" cy="609600"/>
          </a:xfrm>
          <a:prstGeom prst="roundRect">
            <a:avLst>
              <a:gd name="adj" fmla="val 14000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8480" y="1987296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Sistem cari di database KITA sendiri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52032" y="2548128"/>
            <a:ext cx="0" cy="26822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096000" y="2865120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0" y="2865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📄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66560" y="2816352"/>
            <a:ext cx="4998720" cy="609600"/>
          </a:xfrm>
          <a:prstGeom prst="roundRect">
            <a:avLst>
              <a:gd name="adj" fmla="val 14000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88480" y="2816352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Ambil potongan konteks relevan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2032" y="3377184"/>
            <a:ext cx="0" cy="26822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096000" y="3694176"/>
            <a:ext cx="512064" cy="5120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6000" y="3694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🤖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66560" y="3645408"/>
            <a:ext cx="4998720" cy="609600"/>
          </a:xfrm>
          <a:prstGeom prst="roundRect">
            <a:avLst>
              <a:gd name="adj" fmla="val 14000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88480" y="3645408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Kirim ke AI: konteks saja, bukan data asli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2032" y="4206240"/>
            <a:ext cx="0" cy="26822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096000" y="4523232"/>
            <a:ext cx="512064" cy="5120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6000" y="4523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💬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66560" y="4474464"/>
            <a:ext cx="4998720" cy="609600"/>
          </a:xfrm>
          <a:prstGeom prst="roundRect">
            <a:avLst>
              <a:gd name="adj" fmla="val 14000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88480" y="4474464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 buat jawaban → kirim balik ke user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2032" y="5035296"/>
            <a:ext cx="0" cy="26822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096000" y="5352288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6000" y="5352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🔒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66560" y="5303520"/>
            <a:ext cx="4998720" cy="609600"/>
          </a:xfrm>
          <a:prstGeom prst="roundRect">
            <a:avLst>
              <a:gd name="adj" fmla="val 14000"/>
            </a:avLst>
          </a:prstGeom>
          <a:solidFill>
            <a:srgbClr val="F0F6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88480" y="5303520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asli tidak </a:t>
            </a:r>
            <a:r>
              <a:rPr lang="en-US" sz="1467" dirty="0" err="1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keluar</a:t>
            </a:r>
            <a:r>
              <a:rPr lang="en-US" sz="1467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dari server kita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9600" y="2682240"/>
            <a:ext cx="5242560" cy="115824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480" y="27432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✅  Yang DIKIRIM ke AI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92480" y="3108960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Pertanyaan user  +  Potongan konteks relevan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9600" y="4023360"/>
            <a:ext cx="5242560" cy="1219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2480" y="40843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F444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❌  Yang TIDAK DIKIRIM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2480" y="4450080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Database lengkap  •  File .md original  •  Data </a:t>
            </a:r>
            <a:r>
              <a:rPr lang="en-US" sz="1333" dirty="0" err="1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sensitif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NYATA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&amp; Implementasi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402080"/>
            <a:ext cx="1097280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3440" y="140208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agentTroubleshooting“Alarm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X123 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" y="2292096"/>
            <a:ext cx="10972800" cy="1402080"/>
          </a:xfrm>
          <a:prstGeom prst="roundRect">
            <a:avLst>
              <a:gd name="adj" fmla="val 10435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2480" y="2438400"/>
            <a:ext cx="1950720" cy="292608"/>
          </a:xfrm>
          <a:prstGeom prst="roundRect">
            <a:avLst>
              <a:gd name="adj" fmla="val 54167"/>
            </a:avLst>
          </a:prstGeom>
          <a:solidFill>
            <a:srgbClr val="2DC653"/>
          </a:solidFill>
          <a:ln/>
        </p:spPr>
      </p:sp>
      <p:sp>
        <p:nvSpPr>
          <p:cNvPr id="8" name="Text 6"/>
          <p:cNvSpPr/>
          <p:nvPr/>
        </p:nvSpPr>
        <p:spPr>
          <a:xfrm>
            <a:off x="792480" y="2438400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agentTroubleshooting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3440" y="2804160"/>
            <a:ext cx="105460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X123 </a:t>
            </a:r>
            <a:r>
              <a:rPr lang="en-US" sz="1333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Alarmsystem</a:t>
            </a: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sz="1333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Katerogry</a:t>
            </a: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Device: </a:t>
            </a:r>
            <a:b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33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</a:t>
            </a:r>
            <a:r>
              <a:rPr lang="en-US" sz="1333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B1FSTO…..</a:t>
            </a:r>
          </a:p>
        </p:txBody>
      </p:sp>
      <p:sp>
        <p:nvSpPr>
          <p:cNvPr id="10" name="Shape 8"/>
          <p:cNvSpPr/>
          <p:nvPr/>
        </p:nvSpPr>
        <p:spPr>
          <a:xfrm>
            <a:off x="609600" y="3901440"/>
            <a:ext cx="10972800" cy="670560"/>
          </a:xfrm>
          <a:prstGeom prst="roundRect">
            <a:avLst>
              <a:gd name="adj" fmla="val 21818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440" y="390144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agentTraining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dimaksud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CIM, MCS, RTD 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4791455"/>
            <a:ext cx="10972800" cy="1492113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2480" y="4937760"/>
            <a:ext cx="1950720" cy="292608"/>
          </a:xfrm>
          <a:prstGeom prst="roundRect">
            <a:avLst>
              <a:gd name="adj" fmla="val 54167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92480" y="4937760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3440" y="5303520"/>
            <a:ext cx="1054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 err="1"/>
              <a:t>Berikut</a:t>
            </a:r>
            <a:r>
              <a:rPr lang="en-US" sz="1333" dirty="0"/>
              <a:t> </a:t>
            </a:r>
            <a:r>
              <a:rPr lang="en-US" sz="1333" dirty="0" err="1"/>
              <a:t>adalah</a:t>
            </a:r>
            <a:r>
              <a:rPr lang="en-US" sz="1333" dirty="0"/>
              <a:t> </a:t>
            </a:r>
            <a:r>
              <a:rPr lang="en-US" sz="1333" dirty="0" err="1"/>
              <a:t>Keterangan</a:t>
            </a:r>
            <a:r>
              <a:rPr lang="en-US" sz="1333" dirty="0"/>
              <a:t> Dari </a:t>
            </a:r>
            <a:r>
              <a:rPr lang="en-US" sz="1333" dirty="0" err="1"/>
              <a:t>Ketiga</a:t>
            </a:r>
            <a:r>
              <a:rPr lang="en-US" sz="1333" dirty="0"/>
              <a:t> </a:t>
            </a:r>
            <a:r>
              <a:rPr lang="en-US" sz="1333" dirty="0" err="1"/>
              <a:t>Sistem</a:t>
            </a:r>
            <a:r>
              <a:rPr lang="en-US" sz="1333" dirty="0"/>
              <a:t> yang </a:t>
            </a:r>
            <a:r>
              <a:rPr lang="en-US" sz="1333" dirty="0" err="1"/>
              <a:t>kamu</a:t>
            </a:r>
            <a:r>
              <a:rPr lang="en-US" sz="1333" dirty="0"/>
              <a:t> </a:t>
            </a:r>
            <a:r>
              <a:rPr lang="en-US" sz="1333" dirty="0" err="1"/>
              <a:t>tanyakan</a:t>
            </a:r>
            <a:r>
              <a:rPr lang="en-US" sz="1333" dirty="0"/>
              <a:t> :</a:t>
            </a:r>
          </a:p>
          <a:p>
            <a:pPr marL="342900" indent="-342900">
              <a:buAutoNum type="arabicPeriod"/>
            </a:pPr>
            <a:r>
              <a:rPr lang="en-US" sz="1333" dirty="0"/>
              <a:t>CIM </a:t>
            </a:r>
            <a:r>
              <a:rPr lang="en-US" sz="1333" dirty="0" err="1"/>
              <a:t>Adalah</a:t>
            </a:r>
            <a:endParaRPr lang="en-US" sz="1333" dirty="0"/>
          </a:p>
          <a:p>
            <a:pPr marL="342900" indent="-342900">
              <a:buAutoNum type="arabicPeriod"/>
            </a:pPr>
            <a:r>
              <a:rPr lang="en-US" sz="1333" dirty="0"/>
              <a:t>MCS </a:t>
            </a:r>
            <a:r>
              <a:rPr lang="en-US" sz="1333" dirty="0" err="1"/>
              <a:t>Adalah</a:t>
            </a:r>
            <a:endParaRPr lang="en-US" sz="1333" dirty="0"/>
          </a:p>
          <a:p>
            <a:pPr marL="342900" indent="-342900">
              <a:buAutoNum type="arabicPeriod"/>
            </a:pPr>
            <a:r>
              <a:rPr lang="en-US" sz="1333" dirty="0"/>
              <a:t>RTD </a:t>
            </a:r>
            <a:r>
              <a:rPr lang="en-US" sz="1333" dirty="0" err="1"/>
              <a:t>Adalah</a:t>
            </a:r>
            <a:endParaRPr lang="en-US" sz="13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0" y="2435055"/>
            <a:ext cx="121920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Terimakasih</a:t>
            </a:r>
            <a:endParaRPr lang="en-US" sz="4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2590C-A82B-470D-9ECB-01AF57ADEC3E}"/>
              </a:ext>
            </a:extLst>
          </p:cNvPr>
          <p:cNvSpPr/>
          <p:nvPr/>
        </p:nvSpPr>
        <p:spPr>
          <a:xfrm>
            <a:off x="1027952" y="6032139"/>
            <a:ext cx="34023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ibm.com/The history of artificial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1E740-DCDE-4DB7-B975-9C9526684352}"/>
              </a:ext>
            </a:extLst>
          </p:cNvPr>
          <p:cNvSpPr/>
          <p:nvPr/>
        </p:nvSpPr>
        <p:spPr>
          <a:xfrm>
            <a:off x="1027952" y="5662807"/>
            <a:ext cx="1547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References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37CAA-D6E1-484F-BB49-E65373036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67" y="6292411"/>
            <a:ext cx="652288" cy="276999"/>
          </a:xfrm>
          <a:prstGeom prst="rect">
            <a:avLst/>
          </a:prstGeom>
        </p:spPr>
      </p:pic>
      <p:grpSp>
        <p:nvGrpSpPr>
          <p:cNvPr id="6" name="Google Shape;2465;p64">
            <a:extLst>
              <a:ext uri="{FF2B5EF4-FFF2-40B4-BE49-F238E27FC236}">
                <a16:creationId xmlns:a16="http://schemas.microsoft.com/office/drawing/2014/main" id="{AE315C7E-8496-4D79-9347-0CF8A8AA0C3C}"/>
              </a:ext>
            </a:extLst>
          </p:cNvPr>
          <p:cNvGrpSpPr/>
          <p:nvPr/>
        </p:nvGrpSpPr>
        <p:grpSpPr>
          <a:xfrm>
            <a:off x="1106267" y="5537751"/>
            <a:ext cx="6078623" cy="178800"/>
            <a:chOff x="796100" y="3019701"/>
            <a:chExt cx="4558967" cy="134100"/>
          </a:xfrm>
        </p:grpSpPr>
        <p:sp>
          <p:nvSpPr>
            <p:cNvPr id="7" name="Google Shape;2466;p64">
              <a:extLst>
                <a:ext uri="{FF2B5EF4-FFF2-40B4-BE49-F238E27FC236}">
                  <a16:creationId xmlns:a16="http://schemas.microsoft.com/office/drawing/2014/main" id="{4C5A27DE-BBEE-4130-877E-9C8DC09E7CBE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8" name="Google Shape;2467;p64">
              <a:extLst>
                <a:ext uri="{FF2B5EF4-FFF2-40B4-BE49-F238E27FC236}">
                  <a16:creationId xmlns:a16="http://schemas.microsoft.com/office/drawing/2014/main" id="{3C389ABA-A7C0-4135-9C6B-B4C31764A09C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2468;p64">
              <a:extLst>
                <a:ext uri="{FF2B5EF4-FFF2-40B4-BE49-F238E27FC236}">
                  <a16:creationId xmlns:a16="http://schemas.microsoft.com/office/drawing/2014/main" id="{BE0B8140-E72E-4021-92FE-552FBA724BD6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EBEBEB"/>
      </a:accent1>
      <a:accent2>
        <a:srgbClr val="A5A5A5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A5A5A5"/>
      </a:hlink>
      <a:folHlink>
        <a:srgbClr val="7F7F7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2336</TotalTime>
  <Words>1472</Words>
  <Application>Microsoft Office PowerPoint</Application>
  <PresentationFormat>Widescreen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Segoe UI Black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Nurdin(Nurdin)[nurdin]</dc:creator>
  <cp:lastModifiedBy>Nurdin(Nurdin)[nurdin]</cp:lastModifiedBy>
  <cp:revision>83</cp:revision>
  <dcterms:created xsi:type="dcterms:W3CDTF">2026-05-08T08:40:04Z</dcterms:created>
  <dcterms:modified xsi:type="dcterms:W3CDTF">2026-07-23T06:41:21Z</dcterms:modified>
</cp:coreProperties>
</file>